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Jahnavi Kambhampati [0:00 - 0:45]</a:t>
            </a:r>
          </a:p>
          <a:p>
            <a:r>
              <a:t>Good morning members of the teaching team, fellow students, and our valued Industry Partner from the Department of Science and Technology.</a:t>
            </a:r>
          </a:p>
          <a:p>
            <a:r>
              <a:t>We are Team 59, AstraLink, and today we are proud to present our final Phase 2 deliverable: DOST Academy LMS — a centralized scientific capability building and governance platform.</a:t>
            </a:r>
          </a:p>
          <a:p>
            <a:r>
              <a:t>Our team is structured around clear engineering domains: myself, Jahnavi Kambhampati as Project Lead and Delivery Owner; Satya Harika leading UI/UX Frontend Engineering; Rajashekar chava leading Backend &amp; Database Architecture; Nikhittha Mukkala leading Quality Assurance; Balaji Vamshi Pasala leading DevOps and Release Automation; and Reethika Katkuri leading Technical Documentation and Demonstration.</a:t>
            </a:r>
          </a:p>
          <a:p>
            <a:r>
              <a:t>Over the past semester, our mission was to engineer a production-ready Learning Management System that addresses DOST's nationwide training mandates.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Jahnavi Kambhampati [0:45 - 2:00]</a:t>
            </a:r>
          </a:p>
          <a:p>
            <a:r>
              <a:t>To understand the significance of DOST Academy, we must examine the operational landscape our Industry Partner faced.</a:t>
            </a:r>
          </a:p>
          <a:p>
            <a:r>
              <a:t>The Department of Science and Technology oversees six specialized national research institutes — including ASTI for advanced computing, SEI for science education, PCIEERD for industry research, and PCAARRD for biotechnology. Historically, employee capability building was fragmented across siloed workshops, manual spreadsheets, and ad-hoc attendance forms. Agency leadership had zero real-time visibility into workforce training velocity, and certificates lacked digital verification.</a:t>
            </a:r>
          </a:p>
          <a:p>
            <a:r>
              <a:t>DOST Academy solves this by centralizing institutional training into a single, secure multi-tier portal. We enforce strict organizational governance where verified mentors author curriculum content, and trainees progress through modular learning.</a:t>
            </a:r>
          </a:p>
          <a:p>
            <a:r>
              <a:t>The expected institutional value is transformative: agency directors gain live executive analytics over workforce competencies, administrative overhead is eliminated, and credentials are cryptographically authenticated.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Jahnavi Kambhampati [2:00 - 3:00]</a:t>
            </a:r>
          </a:p>
          <a:p>
            <a:r>
              <a:t>Throughout Phase 2, our development cycles were guided by the feedback of our Industry Partner.</a:t>
            </a:r>
          </a:p>
          <a:p>
            <a:r>
              <a:t>The client specified four non-negotiable architectural mandates: First, strict role isolation between Learners, Mentors, and Administrators. Second, an Executive Analytics Dashboard featuring visual radar charts to track employee learning inclinations. Third, two distinct administrative roles: a Functional HR Administrator overseeing curriculum and mentor assignments, and a Technical IT Administrator managing infrastructure telemetry and security. Fourth, complete in-browser CRUD flexibility so non-technical personnel can manage the entire system without editing source code.</a:t>
            </a:r>
          </a:p>
          <a:p>
            <a:r>
              <a:t>We are delighted to report 100% delivery across all criteria. Everything is backed by genuine database models and zero-config deployment.</a:t>
            </a:r>
          </a:p>
          <a:p>
            <a:r>
              <a:t>I will now hand over to our Lead Backend Architect, Rajashekar, to walk through the technical design and system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Rajashekar chava [3:00 - 4:15]</a:t>
            </a:r>
          </a:p>
          <a:p>
            <a:r>
              <a:t>Thank you, Jahnavi. Good morning everyone, my name is Rajashekar chava, and as Lead Backend and Database Architect, I designed the full-stack architecture of DOST Academy.</a:t>
            </a:r>
          </a:p>
          <a:p>
            <a:r>
              <a:t>We adopted a decoupled, service-oriented design. The frontend is a modern Single Page Application built with React 18 that communicates with a high-performance RESTful API powered by Laravel 10.</a:t>
            </a:r>
          </a:p>
          <a:p>
            <a:r>
              <a:t>Security and role isolation are enforced at the network boundary. We implemented stateless JWT authentication where the cryptographic payload encodes the user's ID, branch affiliation, and role permissions. Every incoming HTTP request passes through our custom middleware pipeline — including jwt.auth, role:admin, role:mentor, and admin.type guards.</a:t>
            </a:r>
          </a:p>
          <a:p>
            <a:r>
              <a:t>For persistence, our primary engine is MySQL 3306 with UTF8MB4 charset, coupled with an automated self-healing fallback to SQLite, ensuring zero database lockouts during client evaluation.</a:t>
            </a:r>
          </a:p>
          <a:p>
            <a:r>
              <a:t>Next, let's explore how our database schema models authentic government operations.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Rajashekar chava [4:15 - 5:30]</a:t>
            </a:r>
          </a:p>
          <a:p>
            <a:r>
              <a:t>A critical flaw in many software prototypes is disconnected dummy data. In DOST Academy, we eliminated all mock arrays in favor of an authentic relational lifecycle.</a:t>
            </a:r>
          </a:p>
          <a:p>
            <a:r>
              <a:t>As you can see in the diagram above, the system strictly enforces the institutional flow of a government agency:</a:t>
            </a:r>
          </a:p>
          <a:p>
            <a:r>
              <a:t>First, Administrators establish technical curriculums corresponding to the 6 DOST research institutes, such as Information Technology at ASTI or Advanced Materials at ITDI. Second, accredited faculty mentors are appointed and bound to their respective branch.</a:t>
            </a:r>
          </a:p>
          <a:p>
            <a:r>
              <a:t>Only an assigned mentor can author courses within their domain. When employees register, their account requires administrative approval before login. Once approved, employees browse branch courses and request enrollment. Mentors review these requests, unlocking video lessons and modular quizzes.</a:t>
            </a:r>
          </a:p>
          <a:p>
            <a:r>
              <a:t>Finally, upon completing all lessons and passing quizzes with 50% or higher, the system automatically triggers digital certificate issuance. Every table enforces foreign keys and cascade rules, guaranteeing data integrity.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Rajashekar chava [5:30 - 6:45]</a:t>
            </a:r>
          </a:p>
          <a:p>
            <a:r>
              <a:t>To satisfy our Industry Partner's demand for executive intelligence, I engineered the ExecutiveAnalyticsController and AdminController telemetry services.</a:t>
            </a:r>
          </a:p>
          <a:p>
            <a:r>
              <a:t>Unlike superficial dashboards that rely on static dummy numbers, our analytics engine computes live mathematical aggregations directly from the database models.</a:t>
            </a:r>
          </a:p>
          <a:p>
            <a:r>
              <a:t>The Learning Inclination Radar Chart computes employee enrollment density across all six technical specializations. For instance, if PCAARRD has 80% of its personnel enrolled in biotechnology while ASTI leads in cloud architecture, the radar polygon dynamically maps these institutional capabilities. We also compute completion velocity across agencies and surface at-risk learner alerts.</a:t>
            </a:r>
          </a:p>
          <a:p>
            <a:r>
              <a:t>Concurrently, our Technical IT dashboard monitors database health, active table row counts, and role distribution. By indexing foreign keys, API response times consistently remain under 80 milliseconds.</a:t>
            </a:r>
          </a:p>
          <a:p>
            <a:r>
              <a:t>I will now pass the floor to our Lead UI/UX Frontend Engineer, Satya Harika, to discuss our design system and interactive studio interfaces.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Satya Harika [6:45 - 8:00]</a:t>
            </a:r>
          </a:p>
          <a:p>
            <a:r>
              <a:t>Thank you, Rajashekar. Hello everyone, I am Satya Harika, Lead UI/UX Frontend Engineer.</a:t>
            </a:r>
          </a:p>
          <a:p>
            <a:r>
              <a:t>Our primary design goal was to craft a portal that matches the visual polish of modern enterprise software while honoring the institutional identity of DOST.</a:t>
            </a:r>
          </a:p>
          <a:p>
            <a:r>
              <a:t>We grounded our design in Apple's Human Interface Guidelines. On desktop and ultrawide displays, standard web pages often suffer from 'infinite stretch' or awkward center pinching. We solved this by creating a unified 1600px fluid grid rail with responsive clamp() typography.</a:t>
            </a:r>
          </a:p>
          <a:p>
            <a:r>
              <a:t>Our color system deliberately uses DOST's official Navy Blue as an anchor of institutional authority, paired with Royal and Sky Blue accents for interactive elements.</a:t>
            </a:r>
          </a:p>
          <a:p>
            <a:r>
              <a:t>Furthermore, we avoided heavy third-party chart libraries. All radar charts, velocity bars, and competency gauges are rendered using native React SVG coordinate mathematics, ensuring zero render latency and crystal-clear presentation on high-DPI displays.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Satya Harika [8:00 - 9:15]</a:t>
            </a:r>
          </a:p>
          <a:p>
            <a:r>
              <a:t>A key requirement delivered in Phase 2 was the architectural separation between Functional Administration and Technical Administration.</a:t>
            </a:r>
          </a:p>
          <a:p>
            <a:r>
              <a:t>In a large government body like DOST, human resources supervisors should manage curriculums, approve course materials, and review employee progress, but they should never touch database configurations or system permissions.</a:t>
            </a:r>
          </a:p>
          <a:p>
            <a:r>
              <a:t>Conversely, IT system administrators need visibility into server health, database connection state, and user role matrices, without cluttering their view with lesson plans.</a:t>
            </a:r>
          </a:p>
          <a:p>
            <a:r>
              <a:t>We built two dedicated admin studios. For executive leadership, we integrated a permanent Super-Admin mode switcher pill directly into the header. With a single click, an executive can toggle between the Functional and Technical workspaces.</a:t>
            </a:r>
          </a:p>
          <a:p>
            <a:r>
              <a:t>Each portal is isolated through dedicated header navigation and route protection.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Satya Harika [9:15 - 10:30]</a:t>
            </a:r>
          </a:p>
          <a:p>
            <a:r>
              <a:t>Our client explicitly instructed that administrators should never have to write code or modify database scripts to maintain the application.</a:t>
            </a:r>
          </a:p>
          <a:p>
            <a:r>
              <a:t>To solve this, we engineered full in-browser CRUD studios across every entity.</a:t>
            </a:r>
          </a:p>
          <a:p>
            <a:r>
              <a:t>In the Course Studio, administrators can create new courses, update descriptions, attach lesson modules, and embed video lectures with a few clicks.</a:t>
            </a:r>
          </a:p>
          <a:p>
            <a:r>
              <a:t>In the User Studio, administrators have full control over the user lifecycle: approving pending applicants, changing department assignments, or promoting an employee to a faculty mentor.</a:t>
            </a:r>
          </a:p>
          <a:p>
            <a:r>
              <a:t>Finally, in the Assessment and Certificate Studio, mentors can formulate quizzes, grade submitted coursework, and issue digital certificates with official DOST seals. Everything is backed by optimistic UI updates and instant feedback.</a:t>
            </a:r>
          </a:p>
          <a:p>
            <a:r>
              <a:t>Now, I will pass the floor to our QA Lead, Nikhittha Mukkala, to walk through our testing strategy and verification results.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Nikhittha Mukkala [10:30 - 13:00]</a:t>
            </a:r>
          </a:p>
          <a:p>
            <a:r>
              <a:t>Thank you, Harika. Greetings everyone, I am Nikhittha Mukkala, QA and Verification Lead for DOST Academy.</a:t>
            </a:r>
          </a:p>
          <a:p>
            <a:r>
              <a:t>My responsibility was to ensure that our platform is resilient, secure, and defect-free before client handover. We implemented a continuous testing strategy combining automated unit tests, end-to-end user workflows, and cross-browser verification across Chrome, Edge, Safari, and Firefox.</a:t>
            </a:r>
          </a:p>
          <a:p>
            <a:r>
              <a:t>During our comprehensive QA cycles, we identified and resolved several critical edge cases:</a:t>
            </a:r>
          </a:p>
          <a:p>
            <a:r>
              <a:t>First, in user navigation, clicking 'View Syllabus' on course cards was redirecting employees to the home page because the dynamic `/courses/:id` route was missing in React Router. I wired this route and verified syllabus loading.</a:t>
            </a:r>
          </a:p>
          <a:p>
            <a:r>
              <a:t>Second, in the backend CourseController, unauthenticated requests to view public syllabus outlines triggered null pointer exceptions. I added safe user guards to prevent 500 errors.</a:t>
            </a:r>
          </a:p>
          <a:p>
            <a:r>
              <a:t>Third, we verified that all 21 public agency photography assets and logos load cleanly with HTTP 200 status, backed by automatic SVG error fallbacks.</a:t>
            </a:r>
          </a:p>
          <a:p>
            <a:r>
              <a:t>As demonstrated in our final test run, our automated suite achieves a 100% pass rate — 17 out of 17 tests passing with zero warnings, zero critical defects, and full security sanitization.</a:t>
            </a:r>
          </a:p>
          <a:p>
            <a:r>
              <a:t>Now, our DevOps and Release Engineer, Balaji Vamshi Pasala, will present our automated setup pipeline.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Balaji Vamshi Pasala [13:00 - 15:30]</a:t>
            </a:r>
          </a:p>
          <a:p>
            <a:r>
              <a:t>Thank you, Nikhittha. Good day everyone, I am Balaji Vamshi Pasala, responsible for DevOps, Release Engineering, and Client Setup Automation.</a:t>
            </a:r>
          </a:p>
          <a:p>
            <a:r>
              <a:t>When delivering software to external clients or academic evaluators, you cannot predict their local operating environment. They might be running PHP 8.1 or 8.5, they might have XAMPP, or they might not have MySQL installed at all. If an installation script crashes, evaluation stops immediately.</a:t>
            </a:r>
          </a:p>
          <a:p>
            <a:r>
              <a:t>To solve this, I engineered a zero-failure, self-healing installation pipeline.</a:t>
            </a:r>
          </a:p>
          <a:p>
            <a:r>
              <a:t>Our setup.bat script automatically searches across nine standard Windows directories to detect PHP. If extensions like PDO MySQL or SQLite are commented out in php.ini, the script uncomments them automatically.</a:t>
            </a:r>
          </a:p>
          <a:p>
            <a:r>
              <a:t>Most importantly, we built a dual-engine database fallback. The script probes MySQL on port 3306; if MySQL is reachable, it provisions the database. But if MySQL is absent, it seamlessly activates our built-in SQLite engine with zero manual intervention.</a:t>
            </a:r>
          </a:p>
          <a:p>
            <a:r>
              <a:t>Finally, our packaging script strips away hundreds of megabytes of node_modules and vendor bloat while preserving our full Git history, producing a compact 7.46 MB deliverable.</a:t>
            </a:r>
          </a:p>
          <a:p>
            <a:r>
              <a:t>I now invite Reethika Katkuri to present our demonstration script and discuss how we solved technical hurdles.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Reethika Katkuri [15:30 - 17:30]</a:t>
            </a:r>
          </a:p>
          <a:p>
            <a:r>
              <a:t>Thank you, Balaji. Hello everyone, I am Reethika Katkuri, Technical Documentation and Demonstration Lead.</a:t>
            </a:r>
          </a:p>
          <a:p>
            <a:r>
              <a:t>To ensure that our Industry Partner and teaching team can evaluate every single feature effortlessly, I authored the complete 10-step Manual Demonstration Flow Script.</a:t>
            </a:r>
          </a:p>
          <a:p>
            <a:r>
              <a:t>The walkthrough proves the complete end-to-end lifecycle.</a:t>
            </a:r>
          </a:p>
          <a:p>
            <a:r>
              <a:t>It starts on the public landing page where users explore DOST's 6 technical branches. Next, we demonstrate the Super-Admin logging in, switching seamlessly between the Functional HR Portal and the Technical IT Portal.</a:t>
            </a:r>
          </a:p>
          <a:p>
            <a:r>
              <a:t>We then demonstrate a mentor creating an advanced course in Cloud Computing, complete with video modules and interactive quizzes.</a:t>
            </a:r>
          </a:p>
          <a:p>
            <a:r>
              <a:t>Next, we show a trainee enrolling, receiving mentor approval, watching the lecture, taking the quiz, and instantly receiving a digitally authenticated Certificate of Completion featuring DOST's official seal and PDF export.</a:t>
            </a:r>
          </a:p>
          <a:p>
            <a:r>
              <a:t>This comprehensive documentation guarantees a smooth, verifiable evaluation process.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Reethika Katkuri [17:30 - 18:30]</a:t>
            </a:r>
          </a:p>
          <a:p>
            <a:r>
              <a:t>No real-world engineering project is without hurdles, and our ability to overcome them demonstrates our technical maturity.</a:t>
            </a:r>
          </a:p>
          <a:p>
            <a:r>
              <a:t>Our first challenge was visual: on high-resolution widescreen displays, the layout had an awkward empty void in the hero section. We re-engineered the layout system with 1600px rails and fluid typography to achieve visual balance.</a:t>
            </a:r>
          </a:p>
          <a:p>
            <a:r>
              <a:t>Our second challenge was environment diversity on client machines. We solved this with our self-healing setup script that dynamically falls back to SQLite and detects PHP paths automatically.</a:t>
            </a:r>
          </a:p>
          <a:p>
            <a:r>
              <a:t>Third, managing five distinct user roles required rigorous middleware design to prevent unauthorized privilege escalation.</a:t>
            </a:r>
          </a:p>
          <a:p>
            <a:r>
              <a:t>Finally, we diagnosed and resolved syllabus navigation issues and reinforced backend controllers with safe null guards.</a:t>
            </a:r>
          </a:p>
          <a:p>
            <a:r>
              <a:t>Every challenge was met with a principled engineering solution.</a:t>
            </a:r>
          </a:p>
          <a:p>
            <a:r>
              <a:t>I will now hand back to our Project Lead, Jahnavi, to conclude our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Jahnavi Kambhampati [18:30 - 19:30]</a:t>
            </a:r>
          </a:p>
          <a:p>
            <a:r>
              <a:t>Thank you, Reethika.</a:t>
            </a:r>
          </a:p>
          <a:p>
            <a:r>
              <a:t>In conclusion, DOST Academy represents a transformative step forward in how the Department of Science and Technology cultivates human capital.</a:t>
            </a:r>
          </a:p>
          <a:p>
            <a:r>
              <a:t>We have delivered 100% of our promised Phase 2 scope: role-isolated workspaces, dual administration portals, in-browser CRUD studios, and 100% dynamic executive analytics.</a:t>
            </a:r>
          </a:p>
          <a:p>
            <a:r>
              <a:t>Looking ahead to Phase 3, our architecture is built to scale: it is structured to support government Single Sign-On, SCORM package importing, and mobile learning for field researchers.</a:t>
            </a:r>
          </a:p>
          <a:p>
            <a:r>
              <a:t>On behalf of Team 59—Harika, Rajashekar, Nikhittha, Balaji, Reethika, and myself—we would like to express our deepest gratitude to our Industry Partner, the Department of Science and Technology, and our QUT teaching team for their guidance.</a:t>
            </a:r>
          </a:p>
          <a:p>
            <a:r>
              <a:t>We now welcome any questions you may have. Thank you.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SPEAKERS [19:30 - 25:00]</a:t>
            </a:r>
          </a:p>
          <a:p>
            <a:r>
              <a:t>QUESTION &amp; ANSWER PERIOD (5 MINUTES)</a:t>
            </a:r>
          </a:p>
          <a:p>
            <a:r>
              <a:t>- Project Lead (Jahnavi): Orchestrates questions, addresses scope, partner alignment, and strategic roadmap.</a:t>
            </a:r>
          </a:p>
          <a:p>
            <a:r>
              <a:t>- Backend &amp; DB Architect (Rajashekar): Answers database architecture, relational models, JWT security, and dynamic analytics.</a:t>
            </a:r>
          </a:p>
          <a:p>
            <a:r>
              <a:t>- UI/UX Frontend Lead (Satya Harika): Answers design system tokens, Apple HIG responsiveness, React SPA state, and CRUD studio interactions.</a:t>
            </a:r>
          </a:p>
          <a:p>
            <a:r>
              <a:t>- QA &amp; Verification Lead (Nikhittha): Answers testing coverage, bug lifecycle, routing resolution, and quality gates.</a:t>
            </a:r>
          </a:p>
          <a:p>
            <a:r>
              <a:t>- DevOps &amp; Release Engineer (Balaji): Answers setup scripts, self-healing database fallback, PHP compatibility, and deliverable packaging.</a:t>
            </a:r>
          </a:p>
          <a:p>
            <a:r>
              <a:t>- Technical Documentation Lead (Reethika): Answers user walkthrough steps, demo account roles, and stakeholder handover.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914400" y="914400"/>
            <a:ext cx="882272" cy="1097280"/>
          </a:xfrm>
          <a:prstGeom prst="rect">
            <a:avLst/>
          </a:prstGeom>
        </p:spPr>
      </p:pic>
      <p:sp>
        <p:nvSpPr>
          <p:cNvPr id="4" name="TextBox 3"/>
          <p:cNvSpPr txBox="1"/>
          <p:nvPr/>
        </p:nvSpPr>
        <p:spPr>
          <a:xfrm>
            <a:off x="2286000" y="822960"/>
            <a:ext cx="8961120" cy="2011680"/>
          </a:xfrm>
          <a:prstGeom prst="rect">
            <a:avLst/>
          </a:prstGeom>
          <a:noFill/>
        </p:spPr>
        <p:txBody>
          <a:bodyPr wrap="square">
            <a:spAutoFit/>
          </a:bodyPr>
          <a:lstStyle/>
          <a:p>
            <a:pPr>
              <a:spcAft>
                <a:spcPts val="600"/>
              </a:spcAft>
              <a:defRPr sz="1100" b="1">
                <a:solidFill>
                  <a:srgbClr val="38BDF8"/>
                </a:solidFill>
              </a:defRPr>
            </a:pPr>
            <a:r>
              <a:t>IFN736 INDUSTRY PROJECT (PHASE 2) · FINAL ORAL PRESENTATION (25% WEIGHT)</a:t>
            </a:r>
          </a:p>
          <a:p>
            <a:pPr>
              <a:defRPr sz="3800" b="1">
                <a:solidFill>
                  <a:srgbClr val="FFFFFF"/>
                </a:solidFill>
              </a:defRPr>
            </a:pPr>
            <a:r>
              <a:t>DOST Academy LMS</a:t>
            </a:r>
          </a:p>
          <a:p>
            <a:pPr>
              <a:defRPr sz="1700">
                <a:solidFill>
                  <a:srgbClr val="93C5FD"/>
                </a:solidFill>
              </a:defRPr>
            </a:pPr>
            <a:r>
              <a:t>Centralized Scientific Capability Building &amp; Governance Platform</a:t>
            </a:r>
          </a:p>
          <a:p>
            <a:pPr>
              <a:defRPr sz="1150" b="1">
                <a:solidFill>
                  <a:srgbClr val="10B981"/>
                </a:solidFill>
              </a:defRPr>
            </a:pPr>
            <a:r>
              <a:t>Industry Partner: Department of Science and Technology (DOST)  |  Team 59 (AstraLink)</a:t>
            </a:r>
          </a:p>
        </p:txBody>
      </p:sp>
      <p:sp>
        <p:nvSpPr>
          <p:cNvPr id="5" name="Rounded Rectangle 4"/>
          <p:cNvSpPr/>
          <p:nvPr/>
        </p:nvSpPr>
        <p:spPr>
          <a:xfrm>
            <a:off x="914400" y="2971800"/>
            <a:ext cx="2377440" cy="1005840"/>
          </a:xfrm>
          <a:prstGeom prst="roundRect">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3026664"/>
            <a:ext cx="2231136" cy="896112"/>
          </a:xfrm>
          <a:prstGeom prst="rect">
            <a:avLst/>
          </a:prstGeom>
          <a:noFill/>
        </p:spPr>
        <p:txBody>
          <a:bodyPr wrap="square">
            <a:spAutoFit/>
          </a:bodyPr>
          <a:lstStyle/>
          <a:p>
            <a:pPr algn="ctr">
              <a:defRPr sz="2200" b="1">
                <a:solidFill>
                  <a:srgbClr val="38BDF8"/>
                </a:solidFill>
              </a:defRPr>
            </a:pPr>
            <a:r>
              <a:t>6</a:t>
            </a:r>
          </a:p>
          <a:p>
            <a:pPr algn="ctr">
              <a:defRPr sz="950" b="1">
                <a:solidFill>
                  <a:srgbClr val="0B1F5E"/>
                </a:solidFill>
              </a:defRPr>
            </a:pPr>
            <a:r>
              <a:t>Research Institutes</a:t>
            </a:r>
          </a:p>
          <a:p>
            <a:pPr algn="ctr">
              <a:defRPr sz="800">
                <a:solidFill>
                  <a:srgbClr val="64748B"/>
                </a:solidFill>
              </a:defRPr>
            </a:pPr>
            <a:r>
              <a:t>ASTI, SEI, PCIEERD...</a:t>
            </a:r>
          </a:p>
        </p:txBody>
      </p:sp>
      <p:sp>
        <p:nvSpPr>
          <p:cNvPr id="7" name="Rounded Rectangle 6"/>
          <p:cNvSpPr/>
          <p:nvPr/>
        </p:nvSpPr>
        <p:spPr>
          <a:xfrm>
            <a:off x="3566160" y="2971800"/>
            <a:ext cx="2377440" cy="1005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39312" y="3026664"/>
            <a:ext cx="2231136" cy="896112"/>
          </a:xfrm>
          <a:prstGeom prst="rect">
            <a:avLst/>
          </a:prstGeom>
          <a:noFill/>
        </p:spPr>
        <p:txBody>
          <a:bodyPr wrap="square">
            <a:spAutoFit/>
          </a:bodyPr>
          <a:lstStyle/>
          <a:p>
            <a:pPr algn="ctr">
              <a:defRPr sz="2200" b="1">
                <a:solidFill>
                  <a:srgbClr val="2563EB"/>
                </a:solidFill>
              </a:defRPr>
            </a:pPr>
            <a:r>
              <a:t>10,000+</a:t>
            </a:r>
          </a:p>
          <a:p>
            <a:pPr algn="ctr">
              <a:defRPr sz="950" b="1">
                <a:solidFill>
                  <a:srgbClr val="0B1F5E"/>
                </a:solidFill>
              </a:defRPr>
            </a:pPr>
            <a:r>
              <a:t>Target Personnel</a:t>
            </a:r>
          </a:p>
          <a:p>
            <a:pPr algn="ctr">
              <a:defRPr sz="800">
                <a:solidFill>
                  <a:srgbClr val="64748B"/>
                </a:solidFill>
              </a:defRPr>
            </a:pPr>
            <a:r>
              <a:t>Nationwide DOST Workforce</a:t>
            </a:r>
          </a:p>
        </p:txBody>
      </p:sp>
      <p:sp>
        <p:nvSpPr>
          <p:cNvPr id="9" name="Rounded Rectangle 8"/>
          <p:cNvSpPr/>
          <p:nvPr/>
        </p:nvSpPr>
        <p:spPr>
          <a:xfrm>
            <a:off x="6217920" y="2971800"/>
            <a:ext cx="2377440" cy="10058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91072" y="3026664"/>
            <a:ext cx="2231136" cy="896112"/>
          </a:xfrm>
          <a:prstGeom prst="rect">
            <a:avLst/>
          </a:prstGeom>
          <a:noFill/>
        </p:spPr>
        <p:txBody>
          <a:bodyPr wrap="square">
            <a:spAutoFit/>
          </a:bodyPr>
          <a:lstStyle/>
          <a:p>
            <a:pPr algn="ctr">
              <a:defRPr sz="2200" b="1">
                <a:solidFill>
                  <a:srgbClr val="10B981"/>
                </a:solidFill>
              </a:defRPr>
            </a:pPr>
            <a:r>
              <a:t>100%</a:t>
            </a:r>
          </a:p>
          <a:p>
            <a:pPr algn="ctr">
              <a:defRPr sz="950" b="1">
                <a:solidFill>
                  <a:srgbClr val="0B1F5E"/>
                </a:solidFill>
              </a:defRPr>
            </a:pPr>
            <a:r>
              <a:t>Dynamic Analytics</a:t>
            </a:r>
          </a:p>
          <a:p>
            <a:pPr algn="ctr">
              <a:defRPr sz="800">
                <a:solidFill>
                  <a:srgbClr val="64748B"/>
                </a:solidFill>
              </a:defRPr>
            </a:pPr>
            <a:r>
              <a:t>Live SQL Model Computation</a:t>
            </a:r>
          </a:p>
        </p:txBody>
      </p:sp>
      <p:sp>
        <p:nvSpPr>
          <p:cNvPr id="11" name="Rounded Rectangle 10"/>
          <p:cNvSpPr/>
          <p:nvPr/>
        </p:nvSpPr>
        <p:spPr>
          <a:xfrm>
            <a:off x="8869680" y="2971800"/>
            <a:ext cx="2377440" cy="1005840"/>
          </a:xfrm>
          <a:prstGeom prst="roundRect">
            <a:avLst/>
          </a:prstGeom>
          <a:solidFill>
            <a:srgbClr val="FFFFFF"/>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42832" y="3026664"/>
            <a:ext cx="2231136" cy="896112"/>
          </a:xfrm>
          <a:prstGeom prst="rect">
            <a:avLst/>
          </a:prstGeom>
          <a:noFill/>
        </p:spPr>
        <p:txBody>
          <a:bodyPr wrap="square">
            <a:spAutoFit/>
          </a:bodyPr>
          <a:lstStyle/>
          <a:p>
            <a:pPr algn="ctr">
              <a:defRPr sz="2200" b="1">
                <a:solidFill>
                  <a:srgbClr val="F59E0B"/>
                </a:solidFill>
              </a:defRPr>
            </a:pPr>
            <a:r>
              <a:t>17 / 17</a:t>
            </a:r>
          </a:p>
          <a:p>
            <a:pPr algn="ctr">
              <a:defRPr sz="950" b="1">
                <a:solidFill>
                  <a:srgbClr val="0B1F5E"/>
                </a:solidFill>
              </a:defRPr>
            </a:pPr>
            <a:r>
              <a:t>Automated Tests</a:t>
            </a:r>
          </a:p>
          <a:p>
            <a:pPr algn="ctr">
              <a:defRPr sz="800">
                <a:solidFill>
                  <a:srgbClr val="64748B"/>
                </a:solidFill>
              </a:defRPr>
            </a:pPr>
            <a:r>
              <a:t>Zero Warnings &amp; Zero Defects</a:t>
            </a:r>
          </a:p>
        </p:txBody>
      </p:sp>
      <p:sp>
        <p:nvSpPr>
          <p:cNvPr id="13" name="Rounded Rectangle 12"/>
          <p:cNvSpPr/>
          <p:nvPr/>
        </p:nvSpPr>
        <p:spPr>
          <a:xfrm>
            <a:off x="914400" y="4160520"/>
            <a:ext cx="10332720" cy="2103120"/>
          </a:xfrm>
          <a:prstGeom prst="roundRect">
            <a:avLst/>
          </a:prstGeom>
          <a:solidFill>
            <a:srgbClr val="0715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800"/>
              </a:spcAft>
              <a:defRPr sz="1050" b="1">
                <a:solidFill>
                  <a:srgbClr val="38BDF8"/>
                </a:solidFill>
              </a:defRPr>
            </a:pPr>
            <a:r>
              <a:t>TEAM 59 (ASTRALINK) ROSTER &amp; SPECIALIZATION DOMAINS (ALL MEMBERS SPEAKING)</a:t>
            </a:r>
          </a:p>
          <a:p>
            <a:pPr>
              <a:spcAft>
                <a:spcPts val="400"/>
              </a:spcAft>
              <a:defRPr sz="950">
                <a:solidFill>
                  <a:srgbClr val="F1F5F9"/>
                </a:solidFill>
              </a:defRPr>
            </a:pPr>
            <a:r>
              <a:t>• Jahnavi Kambhampati (Project Lead &amp; System Delivery Owner)      • Satya Harika (Lead UI/UX Frontend Engineer)</a:t>
            </a:r>
          </a:p>
          <a:p>
            <a:pPr>
              <a:spcAft>
                <a:spcPts val="400"/>
              </a:spcAft>
              <a:defRPr sz="950">
                <a:solidFill>
                  <a:srgbClr val="F1F5F9"/>
                </a:solidFill>
              </a:defRPr>
            </a:pPr>
            <a:r>
              <a:t>• Rajashekar chava (Lead Backend &amp; Database Architect)      • Nikhittha Mukkala (QA Lead &amp; Verification Engineer)</a:t>
            </a:r>
          </a:p>
          <a:p>
            <a:pPr>
              <a:spcAft>
                <a:spcPts val="400"/>
              </a:spcAft>
              <a:defRPr sz="950">
                <a:solidFill>
                  <a:srgbClr val="F1F5F9"/>
                </a:solidFill>
              </a:defRPr>
            </a:pPr>
            <a:r>
              <a:t>• Balaji Vamshi Pasala (DevOps, Build &amp; Asset Engineer)      • Reethika Katkuri (Technical Documentation Specialist)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PROJECT INTRODUCTION</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The Problem Statement &amp; Strategic Vision</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Jahnavi Kambhampati</a:t>
            </a:r>
          </a:p>
          <a:p>
            <a:pPr>
              <a:defRPr sz="850">
                <a:solidFill>
                  <a:srgbClr val="CBD5E1"/>
                </a:solidFill>
              </a:defRPr>
            </a:pPr>
            <a:r>
              <a:t>Project Lead (0:45 - 2:00)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sp>
        <p:nvSpPr>
          <p:cNvPr id="8" name="Rounded Rectangle 7"/>
          <p:cNvSpPr/>
          <p:nvPr/>
        </p:nvSpPr>
        <p:spPr>
          <a:xfrm>
            <a:off x="731520" y="1280160"/>
            <a:ext cx="3383280" cy="5029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280160"/>
            <a:ext cx="3383280"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71600"/>
            <a:ext cx="3054096" cy="4846320"/>
          </a:xfrm>
          <a:prstGeom prst="rect">
            <a:avLst/>
          </a:prstGeom>
          <a:noFill/>
        </p:spPr>
        <p:txBody>
          <a:bodyPr wrap="square">
            <a:spAutoFit/>
          </a:bodyPr>
          <a:lstStyle/>
          <a:p>
            <a:pPr>
              <a:spcAft>
                <a:spcPts val="700"/>
              </a:spcAft>
              <a:defRPr sz="1300" b="1">
                <a:solidFill>
                  <a:srgbClr val="0B1F5E"/>
                </a:solidFill>
              </a:defRPr>
            </a:pPr>
            <a:r>
              <a:t>1. The Challenge at DOST</a:t>
            </a:r>
          </a:p>
          <a:p>
            <a:pPr>
              <a:spcAft>
                <a:spcPts val="400"/>
              </a:spcAft>
              <a:defRPr sz="1000">
                <a:solidFill>
                  <a:srgbClr val="0F172A"/>
                </a:solidFill>
              </a:defRPr>
            </a:pPr>
            <a:r>
              <a:t>• Fragmented Training: DOST oversees 6 major technical institutes (ASTI, SEI, PCIEERD, PCHRD, PCAARRD, ITDI).</a:t>
            </a:r>
          </a:p>
          <a:p>
            <a:pPr>
              <a:spcAft>
                <a:spcPts val="400"/>
              </a:spcAft>
              <a:defRPr sz="1000">
                <a:solidFill>
                  <a:srgbClr val="0F172A"/>
                </a:solidFill>
              </a:defRPr>
            </a:pPr>
            <a:r>
              <a:t>• Decentralized Records: Prior capability building relied on manual spreadsheets, Google Forms, and isolated workshops.</a:t>
            </a:r>
          </a:p>
          <a:p>
            <a:pPr>
              <a:spcAft>
                <a:spcPts val="400"/>
              </a:spcAft>
              <a:defRPr sz="1000">
                <a:solidFill>
                  <a:srgbClr val="0F172A"/>
                </a:solidFill>
              </a:defRPr>
            </a:pPr>
            <a:r>
              <a:t>• Zero Skill Telemetry: Leadership had no visibility into workforce learning inclinations or completion velocity.</a:t>
            </a:r>
          </a:p>
          <a:p>
            <a:pPr>
              <a:spcAft>
                <a:spcPts val="400"/>
              </a:spcAft>
              <a:defRPr sz="1000">
                <a:solidFill>
                  <a:srgbClr val="0F172A"/>
                </a:solidFill>
              </a:defRPr>
            </a:pPr>
            <a:r>
              <a:t>• Credential Risk: Lack of authenticated digital certificates created validation and compliance hurdles.</a:t>
            </a:r>
          </a:p>
        </p:txBody>
      </p:sp>
      <p:sp>
        <p:nvSpPr>
          <p:cNvPr id="11" name="Rounded Rectangle 10"/>
          <p:cNvSpPr/>
          <p:nvPr/>
        </p:nvSpPr>
        <p:spPr>
          <a:xfrm>
            <a:off x="4389120" y="1280160"/>
            <a:ext cx="3383280" cy="50292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280160"/>
            <a:ext cx="33832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371600"/>
            <a:ext cx="3054096" cy="4846320"/>
          </a:xfrm>
          <a:prstGeom prst="rect">
            <a:avLst/>
          </a:prstGeom>
          <a:noFill/>
        </p:spPr>
        <p:txBody>
          <a:bodyPr wrap="square">
            <a:spAutoFit/>
          </a:bodyPr>
          <a:lstStyle/>
          <a:p>
            <a:pPr>
              <a:spcAft>
                <a:spcPts val="700"/>
              </a:spcAft>
              <a:defRPr sz="1300" b="1">
                <a:solidFill>
                  <a:srgbClr val="0B1F5E"/>
                </a:solidFill>
              </a:defRPr>
            </a:pPr>
            <a:r>
              <a:t>2. The DOST Academy Solution</a:t>
            </a:r>
          </a:p>
          <a:p>
            <a:pPr>
              <a:spcAft>
                <a:spcPts val="400"/>
              </a:spcAft>
              <a:defRPr sz="1000">
                <a:solidFill>
                  <a:srgbClr val="0F172A"/>
                </a:solidFill>
              </a:defRPr>
            </a:pPr>
            <a:r>
              <a:t>• Centralized Portal: Unified training ecosystem specifically tailored for DOST research institutes.</a:t>
            </a:r>
          </a:p>
          <a:p>
            <a:pPr>
              <a:spcAft>
                <a:spcPts val="400"/>
              </a:spcAft>
              <a:defRPr sz="1000">
                <a:solidFill>
                  <a:srgbClr val="0F172A"/>
                </a:solidFill>
              </a:defRPr>
            </a:pPr>
            <a:r>
              <a:t>• Role-Isolated Workspaces: Trainees learn, Mentors author &amp; grade, and Administrators govern.</a:t>
            </a:r>
          </a:p>
          <a:p>
            <a:pPr>
              <a:spcAft>
                <a:spcPts val="400"/>
              </a:spcAft>
              <a:defRPr sz="1000">
                <a:solidFill>
                  <a:srgbClr val="0F172A"/>
                </a:solidFill>
              </a:defRPr>
            </a:pPr>
            <a:r>
              <a:t>• Authentic Relational Lifecycle: Branch -&gt; Mentor -&gt; Course -&gt; Enrollment Approval -&gt; Certification.</a:t>
            </a:r>
          </a:p>
          <a:p>
            <a:pPr>
              <a:spcAft>
                <a:spcPts val="400"/>
              </a:spcAft>
              <a:defRPr sz="1000">
                <a:solidFill>
                  <a:srgbClr val="0F172A"/>
                </a:solidFill>
              </a:defRPr>
            </a:pPr>
            <a:r>
              <a:t>• Executive Intelligence: 100% dynamic radar analytics and agency-wide completion velocity.</a:t>
            </a:r>
          </a:p>
        </p:txBody>
      </p:sp>
      <p:pic>
        <p:nvPicPr>
          <p:cNvPr id="14" name="Picture 13" descr="branch-biotech.jpg"/>
          <p:cNvPicPr>
            <a:picLocks noChangeAspect="1"/>
          </p:cNvPicPr>
          <p:nvPr/>
        </p:nvPicPr>
        <p:blipFill>
          <a:blip r:embed="rId3"/>
          <a:stretch>
            <a:fillRect/>
          </a:stretch>
        </p:blipFill>
        <p:spPr>
          <a:xfrm>
            <a:off x="8046720" y="1280160"/>
            <a:ext cx="3383280" cy="2103120"/>
          </a:xfrm>
          <a:prstGeom prst="rect">
            <a:avLst/>
          </a:prstGeom>
        </p:spPr>
      </p:pic>
      <p:sp>
        <p:nvSpPr>
          <p:cNvPr id="15" name="Rounded Rectangle 14"/>
          <p:cNvSpPr/>
          <p:nvPr/>
        </p:nvSpPr>
        <p:spPr>
          <a:xfrm>
            <a:off x="8046720" y="3520440"/>
            <a:ext cx="3383280" cy="2788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3520440"/>
            <a:ext cx="33832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11312" y="3611880"/>
            <a:ext cx="3054096" cy="2606040"/>
          </a:xfrm>
          <a:prstGeom prst="rect">
            <a:avLst/>
          </a:prstGeom>
          <a:noFill/>
        </p:spPr>
        <p:txBody>
          <a:bodyPr wrap="square">
            <a:spAutoFit/>
          </a:bodyPr>
          <a:lstStyle/>
          <a:p>
            <a:pPr>
              <a:spcAft>
                <a:spcPts val="700"/>
              </a:spcAft>
              <a:defRPr sz="1300" b="1">
                <a:solidFill>
                  <a:srgbClr val="0B1F5E"/>
                </a:solidFill>
              </a:defRPr>
            </a:pPr>
            <a:r>
              <a:t>3. Expected Institutional Impact</a:t>
            </a:r>
          </a:p>
          <a:p>
            <a:pPr>
              <a:spcAft>
                <a:spcPts val="400"/>
              </a:spcAft>
              <a:defRPr sz="1000">
                <a:solidFill>
                  <a:srgbClr val="0F172A"/>
                </a:solidFill>
              </a:defRPr>
            </a:pPr>
            <a:r>
              <a:t>• Modernizes workforce training across 10,000+ national personnel.</a:t>
            </a:r>
          </a:p>
          <a:p>
            <a:pPr>
              <a:spcAft>
                <a:spcPts val="400"/>
              </a:spcAft>
              <a:defRPr sz="1000">
                <a:solidFill>
                  <a:srgbClr val="0F172A"/>
                </a:solidFill>
              </a:defRPr>
            </a:pPr>
            <a:r>
              <a:t>• Enables real-time data-driven skills governance.</a:t>
            </a:r>
          </a:p>
          <a:p>
            <a:pPr>
              <a:spcAft>
                <a:spcPts val="400"/>
              </a:spcAft>
              <a:defRPr sz="1000">
                <a:solidFill>
                  <a:srgbClr val="0F172A"/>
                </a:solidFill>
              </a:defRPr>
            </a:pPr>
            <a:r>
              <a:t>• Provides tamper-proof digital certificates with DOST seal.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REQUIREMENTS ALIGNMENT</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Industry Partner Scope &amp; Delivered Capabilities</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Jahnavi Kambhampati</a:t>
            </a:r>
          </a:p>
          <a:p>
            <a:pPr>
              <a:defRPr sz="850">
                <a:solidFill>
                  <a:srgbClr val="CBD5E1"/>
                </a:solidFill>
              </a:defRPr>
            </a:pPr>
            <a:r>
              <a:t>Project Lead (2:00 - 3:00)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graphicFrame>
        <p:nvGraphicFramePr>
          <p:cNvPr id="8" name="Table 7"/>
          <p:cNvGraphicFramePr>
            <a:graphicFrameLocks noGrp="1"/>
          </p:cNvGraphicFramePr>
          <p:nvPr/>
        </p:nvGraphicFramePr>
        <p:xfrm>
          <a:off x="731520" y="1280160"/>
          <a:ext cx="11612880" cy="3749039"/>
        </p:xfrm>
        <a:graphic>
          <a:graphicData uri="http://schemas.openxmlformats.org/drawingml/2006/table">
            <a:tbl>
              <a:tblPr firstRow="1" bandRow="1">
                <a:tableStyleId>{5C22544A-7EE6-4342-B048-85BDC9FD1C3A}</a:tableStyleId>
              </a:tblPr>
              <a:tblGrid>
                <a:gridCol w="1828800"/>
                <a:gridCol w="3840480"/>
                <a:gridCol w="4663440"/>
                <a:gridCol w="1280160"/>
              </a:tblGrid>
              <a:tr h="535577">
                <a:tc>
                  <a:txBody>
                    <a:bodyPr/>
                    <a:lstStyle/>
                    <a:p>
                      <a:pPr algn="ctr">
                        <a:defRPr b="1" sz="950">
                          <a:solidFill>
                            <a:srgbClr val="FFFFFF"/>
                          </a:solidFill>
                        </a:defRPr>
                      </a:pPr>
                      <a:r>
                        <a:t>Requirement Domain</a:t>
                      </a:r>
                    </a:p>
                  </a:txBody>
                  <a:tcPr>
                    <a:solidFill>
                      <a:srgbClr val="0B1F5E"/>
                    </a:solidFill>
                  </a:tcPr>
                </a:tc>
                <a:tc>
                  <a:txBody>
                    <a:bodyPr/>
                    <a:lstStyle/>
                    <a:p>
                      <a:pPr algn="ctr">
                        <a:defRPr b="1" sz="950">
                          <a:solidFill>
                            <a:srgbClr val="FFFFFF"/>
                          </a:solidFill>
                        </a:defRPr>
                      </a:pPr>
                      <a:r>
                        <a:t>Client Mandate &amp; Strategic Expectation</a:t>
                      </a:r>
                    </a:p>
                  </a:txBody>
                  <a:tcPr>
                    <a:solidFill>
                      <a:srgbClr val="0B1F5E"/>
                    </a:solidFill>
                  </a:tcPr>
                </a:tc>
                <a:tc>
                  <a:txBody>
                    <a:bodyPr/>
                    <a:lstStyle/>
                    <a:p>
                      <a:pPr algn="ctr">
                        <a:defRPr b="1" sz="950">
                          <a:solidFill>
                            <a:srgbClr val="FFFFFF"/>
                          </a:solidFill>
                        </a:defRPr>
                      </a:pPr>
                      <a:r>
                        <a:t>Phase 2 Delivered Capability</a:t>
                      </a:r>
                    </a:p>
                  </a:txBody>
                  <a:tcPr>
                    <a:solidFill>
                      <a:srgbClr val="0B1F5E"/>
                    </a:solidFill>
                  </a:tcPr>
                </a:tc>
                <a:tc>
                  <a:txBody>
                    <a:bodyPr/>
                    <a:lstStyle/>
                    <a:p>
                      <a:pPr algn="ctr">
                        <a:defRPr b="1" sz="950">
                          <a:solidFill>
                            <a:srgbClr val="FFFFFF"/>
                          </a:solidFill>
                        </a:defRPr>
                      </a:pPr>
                      <a:r>
                        <a:t>Status</a:t>
                      </a:r>
                    </a:p>
                  </a:txBody>
                  <a:tcPr>
                    <a:solidFill>
                      <a:srgbClr val="0B1F5E"/>
                    </a:solidFill>
                  </a:tcPr>
                </a:tc>
              </a:tr>
              <a:tr h="535577">
                <a:tc>
                  <a:txBody>
                    <a:bodyPr/>
                    <a:lstStyle/>
                    <a:p>
                      <a:pPr>
                        <a:defRPr sz="850" b="1">
                          <a:solidFill>
                            <a:srgbClr val="0F172A"/>
                          </a:solidFill>
                        </a:defRPr>
                      </a:pPr>
                      <a:r>
                        <a:t>Role Isolation</a:t>
                      </a:r>
                    </a:p>
                  </a:txBody>
                  <a:tcPr>
                    <a:solidFill>
                      <a:srgbClr val="FFFFFF"/>
                    </a:solidFill>
                  </a:tcPr>
                </a:tc>
                <a:tc>
                  <a:txBody>
                    <a:bodyPr/>
                    <a:lstStyle/>
                    <a:p>
                      <a:pPr>
                        <a:defRPr sz="850">
                          <a:solidFill>
                            <a:srgbClr val="0F172A"/>
                          </a:solidFill>
                        </a:defRPr>
                      </a:pPr>
                      <a:r>
                        <a:t>Strict multi-tier security boundaries for all users</a:t>
                      </a:r>
                    </a:p>
                  </a:txBody>
                  <a:tcPr>
                    <a:solidFill>
                      <a:srgbClr val="FFFFFF"/>
                    </a:solidFill>
                  </a:tcPr>
                </a:tc>
                <a:tc>
                  <a:txBody>
                    <a:bodyPr/>
                    <a:lstStyle/>
                    <a:p>
                      <a:pPr>
                        <a:defRPr sz="850">
                          <a:solidFill>
                            <a:srgbClr val="0F172A"/>
                          </a:solidFill>
                        </a:defRPr>
                      </a:pPr>
                      <a:r>
                        <a:t>5 Isolated Tiers: Super-Admin, IT Admin, HR Admin, Mentor, Learner</a:t>
                      </a:r>
                    </a:p>
                  </a:txBody>
                  <a:tcPr>
                    <a:solidFill>
                      <a:srgbClr val="FFFFFF"/>
                    </a:solidFill>
                  </a:tcPr>
                </a:tc>
                <a:tc>
                  <a:txBody>
                    <a:bodyPr/>
                    <a:lstStyle/>
                    <a:p>
                      <a:pPr>
                        <a:defRPr sz="850">
                          <a:solidFill>
                            <a:srgbClr val="0F172A"/>
                          </a:solidFill>
                        </a:defRPr>
                      </a:pPr>
                      <a:r>
                        <a:t>VERIFIED [OK]</a:t>
                      </a:r>
                    </a:p>
                  </a:txBody>
                  <a:tcPr>
                    <a:solidFill>
                      <a:srgbClr val="FFFFFF"/>
                    </a:solidFill>
                  </a:tcPr>
                </a:tc>
              </a:tr>
              <a:tr h="535577">
                <a:tc>
                  <a:txBody>
                    <a:bodyPr/>
                    <a:lstStyle/>
                    <a:p>
                      <a:pPr>
                        <a:defRPr sz="850" b="1">
                          <a:solidFill>
                            <a:srgbClr val="0F172A"/>
                          </a:solidFill>
                        </a:defRPr>
                      </a:pPr>
                      <a:r>
                        <a:t>Executive Dashboard</a:t>
                      </a:r>
                    </a:p>
                  </a:txBody>
                  <a:tcPr>
                    <a:solidFill>
                      <a:srgbClr val="F1F5F9"/>
                    </a:solidFill>
                  </a:tcPr>
                </a:tc>
                <a:tc>
                  <a:txBody>
                    <a:bodyPr/>
                    <a:lstStyle/>
                    <a:p>
                      <a:pPr>
                        <a:defRPr sz="850">
                          <a:solidFill>
                            <a:srgbClr val="0F172A"/>
                          </a:solidFill>
                        </a:defRPr>
                      </a:pPr>
                      <a:r>
                        <a:t>Visual analytics to track employee learning inclinations</a:t>
                      </a:r>
                    </a:p>
                  </a:txBody>
                  <a:tcPr>
                    <a:solidFill>
                      <a:srgbClr val="F1F5F9"/>
                    </a:solidFill>
                  </a:tcPr>
                </a:tc>
                <a:tc>
                  <a:txBody>
                    <a:bodyPr/>
                    <a:lstStyle/>
                    <a:p>
                      <a:pPr>
                        <a:defRPr sz="850">
                          <a:solidFill>
                            <a:srgbClr val="0F172A"/>
                          </a:solidFill>
                        </a:defRPr>
                      </a:pPr>
                      <a:r>
                        <a:t>100% Dynamic Radar Chart &amp; Agency Completion Velocity (Pure SVG)</a:t>
                      </a:r>
                    </a:p>
                  </a:txBody>
                  <a:tcPr>
                    <a:solidFill>
                      <a:srgbClr val="F1F5F9"/>
                    </a:solidFill>
                  </a:tcPr>
                </a:tc>
                <a:tc>
                  <a:txBody>
                    <a:bodyPr/>
                    <a:lstStyle/>
                    <a:p>
                      <a:pPr>
                        <a:defRPr sz="850">
                          <a:solidFill>
                            <a:srgbClr val="0F172A"/>
                          </a:solidFill>
                        </a:defRPr>
                      </a:pPr>
                      <a:r>
                        <a:t>VERIFIED [OK]</a:t>
                      </a:r>
                    </a:p>
                  </a:txBody>
                  <a:tcPr>
                    <a:solidFill>
                      <a:srgbClr val="F1F5F9"/>
                    </a:solidFill>
                  </a:tcPr>
                </a:tc>
              </a:tr>
              <a:tr h="535577">
                <a:tc>
                  <a:txBody>
                    <a:bodyPr/>
                    <a:lstStyle/>
                    <a:p>
                      <a:pPr>
                        <a:defRPr sz="850" b="1">
                          <a:solidFill>
                            <a:srgbClr val="0F172A"/>
                          </a:solidFill>
                        </a:defRPr>
                      </a:pPr>
                      <a:r>
                        <a:t>Dual Admin Model</a:t>
                      </a:r>
                    </a:p>
                  </a:txBody>
                  <a:tcPr>
                    <a:solidFill>
                      <a:srgbClr val="FFFFFF"/>
                    </a:solidFill>
                  </a:tcPr>
                </a:tc>
                <a:tc>
                  <a:txBody>
                    <a:bodyPr/>
                    <a:lstStyle/>
                    <a:p>
                      <a:pPr>
                        <a:defRPr sz="850">
                          <a:solidFill>
                            <a:srgbClr val="0F172A"/>
                          </a:solidFill>
                        </a:defRPr>
                      </a:pPr>
                      <a:r>
                        <a:t>Separate HR curriculum governance from IT infrastructure</a:t>
                      </a:r>
                    </a:p>
                  </a:txBody>
                  <a:tcPr>
                    <a:solidFill>
                      <a:srgbClr val="FFFFFF"/>
                    </a:solidFill>
                  </a:tcPr>
                </a:tc>
                <a:tc>
                  <a:txBody>
                    <a:bodyPr/>
                    <a:lstStyle/>
                    <a:p>
                      <a:pPr>
                        <a:defRPr sz="850">
                          <a:solidFill>
                            <a:srgbClr val="0F172A"/>
                          </a:solidFill>
                        </a:defRPr>
                      </a:pPr>
                      <a:r>
                        <a:t>Functional HR Portal + Technical IT Portal with 1-click Switcher Pill</a:t>
                      </a:r>
                    </a:p>
                  </a:txBody>
                  <a:tcPr>
                    <a:solidFill>
                      <a:srgbClr val="FFFFFF"/>
                    </a:solidFill>
                  </a:tcPr>
                </a:tc>
                <a:tc>
                  <a:txBody>
                    <a:bodyPr/>
                    <a:lstStyle/>
                    <a:p>
                      <a:pPr>
                        <a:defRPr sz="850">
                          <a:solidFill>
                            <a:srgbClr val="0F172A"/>
                          </a:solidFill>
                        </a:defRPr>
                      </a:pPr>
                      <a:r>
                        <a:t>VERIFIED [OK]</a:t>
                      </a:r>
                    </a:p>
                  </a:txBody>
                  <a:tcPr>
                    <a:solidFill>
                      <a:srgbClr val="FFFFFF"/>
                    </a:solidFill>
                  </a:tcPr>
                </a:tc>
              </a:tr>
              <a:tr h="535577">
                <a:tc>
                  <a:txBody>
                    <a:bodyPr/>
                    <a:lstStyle/>
                    <a:p>
                      <a:pPr>
                        <a:defRPr sz="850" b="1">
                          <a:solidFill>
                            <a:srgbClr val="0F172A"/>
                          </a:solidFill>
                        </a:defRPr>
                      </a:pPr>
                      <a:r>
                        <a:t>Full In-Browser CRUD</a:t>
                      </a:r>
                    </a:p>
                  </a:txBody>
                  <a:tcPr>
                    <a:solidFill>
                      <a:srgbClr val="F1F5F9"/>
                    </a:solidFill>
                  </a:tcPr>
                </a:tc>
                <a:tc>
                  <a:txBody>
                    <a:bodyPr/>
                    <a:lstStyle/>
                    <a:p>
                      <a:pPr>
                        <a:defRPr sz="850">
                          <a:solidFill>
                            <a:srgbClr val="0F172A"/>
                          </a:solidFill>
                        </a:defRPr>
                      </a:pPr>
                      <a:r>
                        <a:t>Admin manages all courses/users without writing code</a:t>
                      </a:r>
                    </a:p>
                  </a:txBody>
                  <a:tcPr>
                    <a:solidFill>
                      <a:srgbClr val="F1F5F9"/>
                    </a:solidFill>
                  </a:tcPr>
                </a:tc>
                <a:tc>
                  <a:txBody>
                    <a:bodyPr/>
                    <a:lstStyle/>
                    <a:p>
                      <a:pPr>
                        <a:defRPr sz="850">
                          <a:solidFill>
                            <a:srgbClr val="0F172A"/>
                          </a:solidFill>
                        </a:defRPr>
                      </a:pPr>
                      <a:r>
                        <a:t>Zero-code studios for Courses, Lessons, Users, Quizzes, Certificates</a:t>
                      </a:r>
                    </a:p>
                  </a:txBody>
                  <a:tcPr>
                    <a:solidFill>
                      <a:srgbClr val="F1F5F9"/>
                    </a:solidFill>
                  </a:tcPr>
                </a:tc>
                <a:tc>
                  <a:txBody>
                    <a:bodyPr/>
                    <a:lstStyle/>
                    <a:p>
                      <a:pPr>
                        <a:defRPr sz="850">
                          <a:solidFill>
                            <a:srgbClr val="0F172A"/>
                          </a:solidFill>
                        </a:defRPr>
                      </a:pPr>
                      <a:r>
                        <a:t>VERIFIED [OK]</a:t>
                      </a:r>
                    </a:p>
                  </a:txBody>
                  <a:tcPr>
                    <a:solidFill>
                      <a:srgbClr val="F1F5F9"/>
                    </a:solidFill>
                  </a:tcPr>
                </a:tc>
              </a:tr>
              <a:tr h="535577">
                <a:tc>
                  <a:txBody>
                    <a:bodyPr/>
                    <a:lstStyle/>
                    <a:p>
                      <a:pPr>
                        <a:defRPr sz="850" b="1">
                          <a:solidFill>
                            <a:srgbClr val="0F172A"/>
                          </a:solidFill>
                        </a:defRPr>
                      </a:pPr>
                      <a:r>
                        <a:t>Authentic Data Model</a:t>
                      </a:r>
                    </a:p>
                  </a:txBody>
                  <a:tcPr>
                    <a:solidFill>
                      <a:srgbClr val="FFFFFF"/>
                    </a:solidFill>
                  </a:tcPr>
                </a:tc>
                <a:tc>
                  <a:txBody>
                    <a:bodyPr/>
                    <a:lstStyle/>
                    <a:p>
                      <a:pPr>
                        <a:defRPr sz="850">
                          <a:solidFill>
                            <a:srgbClr val="0F172A"/>
                          </a:solidFill>
                        </a:defRPr>
                      </a:pPr>
                      <a:r>
                        <a:t>Eliminate mock arrays; enforce real institutional flow</a:t>
                      </a:r>
                    </a:p>
                  </a:txBody>
                  <a:tcPr>
                    <a:solidFill>
                      <a:srgbClr val="FFFFFF"/>
                    </a:solidFill>
                  </a:tcPr>
                </a:tc>
                <a:tc>
                  <a:txBody>
                    <a:bodyPr/>
                    <a:lstStyle/>
                    <a:p>
                      <a:pPr>
                        <a:defRPr sz="850">
                          <a:solidFill>
                            <a:srgbClr val="0F172A"/>
                          </a:solidFill>
                        </a:defRPr>
                      </a:pPr>
                      <a:r>
                        <a:t>6 DOST branches, assigned mentors, real courses, verified submissions</a:t>
                      </a:r>
                    </a:p>
                  </a:txBody>
                  <a:tcPr>
                    <a:solidFill>
                      <a:srgbClr val="FFFFFF"/>
                    </a:solidFill>
                  </a:tcPr>
                </a:tc>
                <a:tc>
                  <a:txBody>
                    <a:bodyPr/>
                    <a:lstStyle/>
                    <a:p>
                      <a:pPr>
                        <a:defRPr sz="850">
                          <a:solidFill>
                            <a:srgbClr val="0F172A"/>
                          </a:solidFill>
                        </a:defRPr>
                      </a:pPr>
                      <a:r>
                        <a:t>VERIFIED [OK]</a:t>
                      </a:r>
                    </a:p>
                  </a:txBody>
                  <a:tcPr>
                    <a:solidFill>
                      <a:srgbClr val="FFFFFF"/>
                    </a:solidFill>
                  </a:tcPr>
                </a:tc>
              </a:tr>
              <a:tr h="535577">
                <a:tc>
                  <a:txBody>
                    <a:bodyPr/>
                    <a:lstStyle/>
                    <a:p>
                      <a:pPr>
                        <a:defRPr sz="850" b="1">
                          <a:solidFill>
                            <a:srgbClr val="0F172A"/>
                          </a:solidFill>
                        </a:defRPr>
                      </a:pPr>
                      <a:r>
                        <a:t>System Reliability</a:t>
                      </a:r>
                    </a:p>
                  </a:txBody>
                  <a:tcPr>
                    <a:solidFill>
                      <a:srgbClr val="F1F5F9"/>
                    </a:solidFill>
                  </a:tcPr>
                </a:tc>
                <a:tc>
                  <a:txBody>
                    <a:bodyPr/>
                    <a:lstStyle/>
                    <a:p>
                      <a:pPr>
                        <a:defRPr sz="850">
                          <a:solidFill>
                            <a:srgbClr val="0F172A"/>
                          </a:solidFill>
                        </a:defRPr>
                      </a:pPr>
                      <a:r>
                        <a:t>Zero-crash evaluation regardless of client PC environment</a:t>
                      </a:r>
                    </a:p>
                  </a:txBody>
                  <a:tcPr>
                    <a:solidFill>
                      <a:srgbClr val="F1F5F9"/>
                    </a:solidFill>
                  </a:tcPr>
                </a:tc>
                <a:tc>
                  <a:txBody>
                    <a:bodyPr/>
                    <a:lstStyle/>
                    <a:p>
                      <a:pPr>
                        <a:defRPr sz="850">
                          <a:solidFill>
                            <a:srgbClr val="0F172A"/>
                          </a:solidFill>
                        </a:defRPr>
                      </a:pPr>
                      <a:r>
                        <a:t>Dual-engine fallback: MySQL 3306 primary with automatic SQLite fallback</a:t>
                      </a:r>
                    </a:p>
                  </a:txBody>
                  <a:tcPr>
                    <a:solidFill>
                      <a:srgbClr val="F1F5F9"/>
                    </a:solidFill>
                  </a:tcPr>
                </a:tc>
                <a:tc>
                  <a:txBody>
                    <a:bodyPr/>
                    <a:lstStyle/>
                    <a:p>
                      <a:pPr>
                        <a:defRPr sz="850">
                          <a:solidFill>
                            <a:srgbClr val="0F172A"/>
                          </a:solidFill>
                        </a:defRPr>
                      </a:pPr>
                      <a:r>
                        <a:t>VERIFIED [OK]</a:t>
                      </a:r>
                    </a:p>
                  </a:txBody>
                  <a:tcPr>
                    <a:solidFill>
                      <a:srgbClr val="F1F5F9"/>
                    </a:solidFill>
                  </a:tcPr>
                </a:tc>
              </a:tr>
            </a:tbl>
          </a:graphicData>
        </a:graphic>
      </p:graphicFrame>
      <p:sp>
        <p:nvSpPr>
          <p:cNvPr id="9" name="Rounded Rectangle 8"/>
          <p:cNvSpPr/>
          <p:nvPr/>
        </p:nvSpPr>
        <p:spPr>
          <a:xfrm>
            <a:off x="731520" y="5257800"/>
            <a:ext cx="2377440" cy="100584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312664"/>
            <a:ext cx="2231136" cy="896112"/>
          </a:xfrm>
          <a:prstGeom prst="rect">
            <a:avLst/>
          </a:prstGeom>
          <a:noFill/>
        </p:spPr>
        <p:txBody>
          <a:bodyPr wrap="square">
            <a:spAutoFit/>
          </a:bodyPr>
          <a:lstStyle/>
          <a:p>
            <a:pPr algn="ctr">
              <a:defRPr sz="2200" b="1">
                <a:solidFill>
                  <a:srgbClr val="10B981"/>
                </a:solidFill>
              </a:defRPr>
            </a:pPr>
            <a:r>
              <a:t>100%</a:t>
            </a:r>
          </a:p>
          <a:p>
            <a:pPr algn="ctr">
              <a:defRPr sz="950" b="1">
                <a:solidFill>
                  <a:srgbClr val="0B1F5E"/>
                </a:solidFill>
              </a:defRPr>
            </a:pPr>
            <a:r>
              <a:t>Scope Delivered</a:t>
            </a:r>
          </a:p>
          <a:p>
            <a:pPr algn="ctr">
              <a:defRPr sz="800">
                <a:solidFill>
                  <a:srgbClr val="64748B"/>
                </a:solidFill>
              </a:defRPr>
            </a:pPr>
            <a:r>
              <a:t>Phase 2 Commitments Met</a:t>
            </a:r>
          </a:p>
        </p:txBody>
      </p:sp>
      <p:sp>
        <p:nvSpPr>
          <p:cNvPr id="11" name="Rounded Rectangle 10"/>
          <p:cNvSpPr/>
          <p:nvPr/>
        </p:nvSpPr>
        <p:spPr>
          <a:xfrm>
            <a:off x="3474720" y="5257800"/>
            <a:ext cx="2377440" cy="100584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5312664"/>
            <a:ext cx="2231136" cy="896112"/>
          </a:xfrm>
          <a:prstGeom prst="rect">
            <a:avLst/>
          </a:prstGeom>
          <a:noFill/>
        </p:spPr>
        <p:txBody>
          <a:bodyPr wrap="square">
            <a:spAutoFit/>
          </a:bodyPr>
          <a:lstStyle/>
          <a:p>
            <a:pPr algn="ctr">
              <a:defRPr sz="2200" b="1">
                <a:solidFill>
                  <a:srgbClr val="2563EB"/>
                </a:solidFill>
              </a:defRPr>
            </a:pPr>
            <a:r>
              <a:t>5 Tiers</a:t>
            </a:r>
          </a:p>
          <a:p>
            <a:pPr algn="ctr">
              <a:defRPr sz="950" b="1">
                <a:solidFill>
                  <a:srgbClr val="0B1F5E"/>
                </a:solidFill>
              </a:defRPr>
            </a:pPr>
            <a:r>
              <a:t>Role Hierarchy</a:t>
            </a:r>
          </a:p>
          <a:p>
            <a:pPr algn="ctr">
              <a:defRPr sz="800">
                <a:solidFill>
                  <a:srgbClr val="64748B"/>
                </a:solidFill>
              </a:defRPr>
            </a:pPr>
            <a:r>
              <a:t>Super, IT, HR, Mentor, Learner</a:t>
            </a:r>
          </a:p>
        </p:txBody>
      </p:sp>
      <p:sp>
        <p:nvSpPr>
          <p:cNvPr id="13" name="Rounded Rectangle 12"/>
          <p:cNvSpPr/>
          <p:nvPr/>
        </p:nvSpPr>
        <p:spPr>
          <a:xfrm>
            <a:off x="6217920" y="5257800"/>
            <a:ext cx="2377440" cy="1005840"/>
          </a:xfrm>
          <a:prstGeom prst="roundRect">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5312664"/>
            <a:ext cx="2231136" cy="896112"/>
          </a:xfrm>
          <a:prstGeom prst="rect">
            <a:avLst/>
          </a:prstGeom>
          <a:noFill/>
        </p:spPr>
        <p:txBody>
          <a:bodyPr wrap="square">
            <a:spAutoFit/>
          </a:bodyPr>
          <a:lstStyle/>
          <a:p>
            <a:pPr algn="ctr">
              <a:defRPr sz="2200" b="1">
                <a:solidFill>
                  <a:srgbClr val="38BDF8"/>
                </a:solidFill>
              </a:defRPr>
            </a:pPr>
            <a:r>
              <a:t>2 Portals</a:t>
            </a:r>
          </a:p>
          <a:p>
            <a:pPr algn="ctr">
              <a:defRPr sz="950" b="1">
                <a:solidFill>
                  <a:srgbClr val="0B1F5E"/>
                </a:solidFill>
              </a:defRPr>
            </a:pPr>
            <a:r>
              <a:t>Dual Admin Model</a:t>
            </a:r>
          </a:p>
          <a:p>
            <a:pPr algn="ctr">
              <a:defRPr sz="800">
                <a:solidFill>
                  <a:srgbClr val="64748B"/>
                </a:solidFill>
              </a:defRPr>
            </a:pPr>
            <a:r>
              <a:t>Functional HR + Technical IT</a:t>
            </a:r>
          </a:p>
        </p:txBody>
      </p:sp>
      <p:sp>
        <p:nvSpPr>
          <p:cNvPr id="15" name="Rounded Rectangle 14"/>
          <p:cNvSpPr/>
          <p:nvPr/>
        </p:nvSpPr>
        <p:spPr>
          <a:xfrm>
            <a:off x="8961120" y="5257800"/>
            <a:ext cx="2468880" cy="1005840"/>
          </a:xfrm>
          <a:prstGeom prst="roundRect">
            <a:avLst/>
          </a:prstGeom>
          <a:solidFill>
            <a:srgbClr val="FFFFFF"/>
          </a:solidFill>
          <a:ln w="19050">
            <a:solidFill>
              <a:srgbClr val="0B1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34272" y="5312664"/>
            <a:ext cx="2322576" cy="896112"/>
          </a:xfrm>
          <a:prstGeom prst="rect">
            <a:avLst/>
          </a:prstGeom>
          <a:noFill/>
        </p:spPr>
        <p:txBody>
          <a:bodyPr wrap="square">
            <a:spAutoFit/>
          </a:bodyPr>
          <a:lstStyle/>
          <a:p>
            <a:pPr algn="ctr">
              <a:defRPr sz="2200" b="1">
                <a:solidFill>
                  <a:srgbClr val="0B1F5E"/>
                </a:solidFill>
              </a:defRPr>
            </a:pPr>
            <a:r>
              <a:t>7.46 MB</a:t>
            </a:r>
          </a:p>
          <a:p>
            <a:pPr algn="ctr">
              <a:defRPr sz="950" b="1">
                <a:solidFill>
                  <a:srgbClr val="0B1F5E"/>
                </a:solidFill>
              </a:defRPr>
            </a:pPr>
            <a:r>
              <a:t>Clean Deliverable</a:t>
            </a:r>
          </a:p>
          <a:p>
            <a:pPr algn="ctr">
              <a:defRPr sz="800">
                <a:solidFill>
                  <a:srgbClr val="64748B"/>
                </a:solidFill>
              </a:defRPr>
            </a:pPr>
            <a:r>
              <a:t>Zero Bloat, Full Git History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TECHNICAL DESIGN</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Full-Stack System Architecture &amp; Technology Stack</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Rajashekar chava</a:t>
            </a:r>
          </a:p>
          <a:p>
            <a:pPr>
              <a:defRPr sz="850">
                <a:solidFill>
                  <a:srgbClr val="CBD5E1"/>
                </a:solidFill>
              </a:defRPr>
            </a:pPr>
            <a:r>
              <a:t>Lead Backend Architect (3:00 - 4:15)</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pic>
        <p:nvPicPr>
          <p:cNvPr id="8" name="Picture 7" descr="diagram_architecture.png"/>
          <p:cNvPicPr>
            <a:picLocks noChangeAspect="1"/>
          </p:cNvPicPr>
          <p:nvPr/>
        </p:nvPicPr>
        <p:blipFill>
          <a:blip r:embed="rId3"/>
          <a:stretch>
            <a:fillRect/>
          </a:stretch>
        </p:blipFill>
        <p:spPr>
          <a:xfrm>
            <a:off x="731520" y="1234440"/>
            <a:ext cx="7498079" cy="4206240"/>
          </a:xfrm>
          <a:prstGeom prst="rect">
            <a:avLst/>
          </a:prstGeom>
        </p:spPr>
      </p:pic>
      <p:sp>
        <p:nvSpPr>
          <p:cNvPr id="9" name="Rounded Rectangle 8"/>
          <p:cNvSpPr/>
          <p:nvPr/>
        </p:nvSpPr>
        <p:spPr>
          <a:xfrm>
            <a:off x="8412480" y="1234440"/>
            <a:ext cx="3017520" cy="42062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12480" y="1234440"/>
            <a:ext cx="30175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77072" y="1325880"/>
            <a:ext cx="2688336" cy="4023360"/>
          </a:xfrm>
          <a:prstGeom prst="rect">
            <a:avLst/>
          </a:prstGeom>
          <a:noFill/>
        </p:spPr>
        <p:txBody>
          <a:bodyPr wrap="square">
            <a:spAutoFit/>
          </a:bodyPr>
          <a:lstStyle/>
          <a:p>
            <a:pPr>
              <a:spcAft>
                <a:spcPts val="700"/>
              </a:spcAft>
              <a:defRPr sz="1300" b="1">
                <a:solidFill>
                  <a:srgbClr val="0B1F5E"/>
                </a:solidFill>
              </a:defRPr>
            </a:pPr>
            <a:r>
              <a:t>Architectural Pillars</a:t>
            </a:r>
          </a:p>
          <a:p>
            <a:pPr>
              <a:spcAft>
                <a:spcPts val="400"/>
              </a:spcAft>
              <a:defRPr sz="1000">
                <a:solidFill>
                  <a:srgbClr val="0F172A"/>
                </a:solidFill>
              </a:defRPr>
            </a:pPr>
            <a:r>
              <a:t>• Client Tier: React 18 SPA with Apple HIG fluid rails &amp; protected routes.</a:t>
            </a:r>
          </a:p>
          <a:p>
            <a:pPr>
              <a:spcAft>
                <a:spcPts val="400"/>
              </a:spcAft>
              <a:defRPr sz="1000">
                <a:solidFill>
                  <a:srgbClr val="0F172A"/>
                </a:solidFill>
              </a:defRPr>
            </a:pPr>
            <a:r>
              <a:t>• Security Layer: Stateless JWT tokens with user_id, role, branch_id claims.</a:t>
            </a:r>
          </a:p>
          <a:p>
            <a:pPr>
              <a:spcAft>
                <a:spcPts val="400"/>
              </a:spcAft>
              <a:defRPr sz="1000">
                <a:solidFill>
                  <a:srgbClr val="0F172A"/>
                </a:solidFill>
              </a:defRPr>
            </a:pPr>
            <a:r>
              <a:t>• REST API: Laravel 10 modular controllers with indexed SQL queries.</a:t>
            </a:r>
          </a:p>
          <a:p>
            <a:pPr>
              <a:spcAft>
                <a:spcPts val="400"/>
              </a:spcAft>
              <a:defRPr sz="1000">
                <a:solidFill>
                  <a:srgbClr val="0F172A"/>
                </a:solidFill>
              </a:defRPr>
            </a:pPr>
            <a:r>
              <a:t>• Persistence: Primary MySQL 3306 with self-healing SQLite fallback.</a:t>
            </a:r>
          </a:p>
          <a:p>
            <a:pPr>
              <a:spcAft>
                <a:spcPts val="400"/>
              </a:spcAft>
              <a:defRPr sz="1000">
                <a:solidFill>
                  <a:srgbClr val="0F172A"/>
                </a:solidFill>
              </a:defRPr>
            </a:pPr>
            <a:r>
              <a:t>• Pure SVG Graphics: Mathematical coordinate rendering eliminating 150KB chart library bloat.</a:t>
            </a:r>
          </a:p>
        </p:txBody>
      </p:sp>
      <p:sp>
        <p:nvSpPr>
          <p:cNvPr id="12" name="Rounded Rectangle 11"/>
          <p:cNvSpPr/>
          <p:nvPr/>
        </p:nvSpPr>
        <p:spPr>
          <a:xfrm>
            <a:off x="731520" y="5532120"/>
            <a:ext cx="10698480" cy="777240"/>
          </a:xfrm>
          <a:prstGeom prst="roundRect">
            <a:avLst/>
          </a:prstGeom>
          <a:solidFill>
            <a:srgbClr val="0715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SECURITY &amp; PERFORMANCE GUARANTEES</a:t>
            </a:r>
          </a:p>
          <a:p>
            <a:pPr>
              <a:defRPr sz="900">
                <a:solidFill>
                  <a:srgbClr val="E2E8F0"/>
                </a:solidFill>
              </a:defRPr>
            </a:pPr>
            <a:r>
              <a:t>Stateless JWT authentication prevents session hijacking. Database foreign-key indices on user_id, course_id, and curriculum_id guarantee sub-80ms API response times across all endpoints.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DATABASE ENGINEERING</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Relational Schema &amp; Authentic DOST Lifecycle</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Rajashekar chava</a:t>
            </a:r>
          </a:p>
          <a:p>
            <a:pPr>
              <a:defRPr sz="850">
                <a:solidFill>
                  <a:srgbClr val="CBD5E1"/>
                </a:solidFill>
              </a:defRPr>
            </a:pPr>
            <a:r>
              <a:t>Lead Backend Architect (4:15 - 5:30)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pic>
        <p:nvPicPr>
          <p:cNvPr id="8" name="Picture 7" descr="diagram_lifecycle.png"/>
          <p:cNvPicPr>
            <a:picLocks noChangeAspect="1"/>
          </p:cNvPicPr>
          <p:nvPr/>
        </p:nvPicPr>
        <p:blipFill>
          <a:blip r:embed="rId3"/>
          <a:stretch>
            <a:fillRect/>
          </a:stretch>
        </p:blipFill>
        <p:spPr>
          <a:xfrm>
            <a:off x="731520" y="1234440"/>
            <a:ext cx="10698480" cy="3108960"/>
          </a:xfrm>
          <a:prstGeom prst="rect">
            <a:avLst/>
          </a:prstGeom>
        </p:spPr>
      </p:pic>
      <p:sp>
        <p:nvSpPr>
          <p:cNvPr id="9" name="Rounded Rectangle 8"/>
          <p:cNvSpPr/>
          <p:nvPr/>
        </p:nvSpPr>
        <p:spPr>
          <a:xfrm>
            <a:off x="731520" y="4480560"/>
            <a:ext cx="5212080" cy="1828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4480560"/>
            <a:ext cx="52120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4572000"/>
            <a:ext cx="4882896" cy="1645920"/>
          </a:xfrm>
          <a:prstGeom prst="rect">
            <a:avLst/>
          </a:prstGeom>
          <a:noFill/>
        </p:spPr>
        <p:txBody>
          <a:bodyPr wrap="square">
            <a:spAutoFit/>
          </a:bodyPr>
          <a:lstStyle/>
          <a:p>
            <a:pPr>
              <a:spcAft>
                <a:spcPts val="700"/>
              </a:spcAft>
              <a:defRPr sz="1300" b="1">
                <a:solidFill>
                  <a:srgbClr val="0B1F5E"/>
                </a:solidFill>
              </a:defRPr>
            </a:pPr>
            <a:r>
              <a:t>11 Relational Eloquent Models</a:t>
            </a:r>
          </a:p>
          <a:p>
            <a:pPr>
              <a:spcAft>
                <a:spcPts val="400"/>
              </a:spcAft>
              <a:defRPr sz="1000">
                <a:solidFill>
                  <a:srgbClr val="0F172A"/>
                </a:solidFill>
              </a:defRPr>
            </a:pPr>
            <a:r>
              <a:t>• Curriculums (6 Institutes) ➔ Users (5 Roles) ➔ Courses ➔ Lessons.</a:t>
            </a:r>
          </a:p>
          <a:p>
            <a:pPr>
              <a:spcAft>
                <a:spcPts val="400"/>
              </a:spcAft>
              <a:defRPr sz="1000">
                <a:solidFill>
                  <a:srgbClr val="0F172A"/>
                </a:solidFill>
              </a:defRPr>
            </a:pPr>
            <a:r>
              <a:t>• Enrollments (State Machine: pending -&gt; approved -&gt; completed).</a:t>
            </a:r>
          </a:p>
          <a:p>
            <a:pPr>
              <a:spcAft>
                <a:spcPts val="400"/>
              </a:spcAft>
              <a:defRPr sz="1000">
                <a:solidFill>
                  <a:srgbClr val="0F172A"/>
                </a:solidFill>
              </a:defRPr>
            </a:pPr>
            <a:r>
              <a:t>• Assignments ➔ Submissions ➔ Quiz Grades ➔ Certificates.</a:t>
            </a:r>
          </a:p>
        </p:txBody>
      </p:sp>
      <p:sp>
        <p:nvSpPr>
          <p:cNvPr id="12" name="Rounded Rectangle 11"/>
          <p:cNvSpPr/>
          <p:nvPr/>
        </p:nvSpPr>
        <p:spPr>
          <a:xfrm>
            <a:off x="6217920" y="4480560"/>
            <a:ext cx="5212080" cy="1828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17920" y="4480560"/>
            <a:ext cx="52120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82512" y="4572000"/>
            <a:ext cx="4882896" cy="1645920"/>
          </a:xfrm>
          <a:prstGeom prst="rect">
            <a:avLst/>
          </a:prstGeom>
          <a:noFill/>
        </p:spPr>
        <p:txBody>
          <a:bodyPr wrap="square">
            <a:spAutoFit/>
          </a:bodyPr>
          <a:lstStyle/>
          <a:p>
            <a:pPr>
              <a:spcAft>
                <a:spcPts val="700"/>
              </a:spcAft>
              <a:defRPr sz="1300" b="1">
                <a:solidFill>
                  <a:srgbClr val="0B1F5E"/>
                </a:solidFill>
              </a:defRPr>
            </a:pPr>
            <a:r>
              <a:t>Institutional Integrity Guarantees</a:t>
            </a:r>
          </a:p>
          <a:p>
            <a:pPr>
              <a:spcAft>
                <a:spcPts val="400"/>
              </a:spcAft>
              <a:defRPr sz="1000">
                <a:solidFill>
                  <a:srgbClr val="0F172A"/>
                </a:solidFill>
              </a:defRPr>
            </a:pPr>
            <a:r>
              <a:t>• Zero Dummy Data: All mock arrays purged; real DOST seed data.</a:t>
            </a:r>
          </a:p>
          <a:p>
            <a:pPr>
              <a:spcAft>
                <a:spcPts val="400"/>
              </a:spcAft>
              <a:defRPr sz="1000">
                <a:solidFill>
                  <a:srgbClr val="0F172A"/>
                </a:solidFill>
              </a:defRPr>
            </a:pPr>
            <a:r>
              <a:t>• Foreign Key Cascades: Strict parent-child relationship enforcement.</a:t>
            </a:r>
          </a:p>
          <a:p>
            <a:pPr>
              <a:spcAft>
                <a:spcPts val="400"/>
              </a:spcAft>
              <a:defRPr sz="1000">
                <a:solidFill>
                  <a:srgbClr val="0F172A"/>
                </a:solidFill>
              </a:defRPr>
            </a:pPr>
            <a:r>
              <a:t>• Audit Logging: All approvals and role changes recorded in database.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BACKEND &amp; ANALYTICS</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Dynamic Executive Analytics &amp; IT Telemetry Engine</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Rajashekar chava</a:t>
            </a:r>
          </a:p>
          <a:p>
            <a:pPr>
              <a:defRPr sz="850">
                <a:solidFill>
                  <a:srgbClr val="CBD5E1"/>
                </a:solidFill>
              </a:defRPr>
            </a:pPr>
            <a:r>
              <a:t>Lead Backend Architect (5:30 - 6:45)</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pic>
        <p:nvPicPr>
          <p:cNvPr id="8" name="Picture 7" descr="diagram_radar_analytics.png"/>
          <p:cNvPicPr>
            <a:picLocks noChangeAspect="1"/>
          </p:cNvPicPr>
          <p:nvPr/>
        </p:nvPicPr>
        <p:blipFill>
          <a:blip r:embed="rId3"/>
          <a:stretch>
            <a:fillRect/>
          </a:stretch>
        </p:blipFill>
        <p:spPr>
          <a:xfrm>
            <a:off x="731520" y="1234440"/>
            <a:ext cx="7498079" cy="4114800"/>
          </a:xfrm>
          <a:prstGeom prst="rect">
            <a:avLst/>
          </a:prstGeom>
        </p:spPr>
      </p:pic>
      <p:sp>
        <p:nvSpPr>
          <p:cNvPr id="9" name="Rounded Rectangle 8"/>
          <p:cNvSpPr/>
          <p:nvPr/>
        </p:nvSpPr>
        <p:spPr>
          <a:xfrm>
            <a:off x="8412480" y="1234440"/>
            <a:ext cx="301752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12480" y="1234440"/>
            <a:ext cx="301752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77072" y="1325880"/>
            <a:ext cx="2688336" cy="3931920"/>
          </a:xfrm>
          <a:prstGeom prst="rect">
            <a:avLst/>
          </a:prstGeom>
          <a:noFill/>
        </p:spPr>
        <p:txBody>
          <a:bodyPr wrap="square">
            <a:spAutoFit/>
          </a:bodyPr>
          <a:lstStyle/>
          <a:p>
            <a:pPr>
              <a:spcAft>
                <a:spcPts val="700"/>
              </a:spcAft>
              <a:defRPr sz="1300" b="1">
                <a:solidFill>
                  <a:srgbClr val="0B1F5E"/>
                </a:solidFill>
              </a:defRPr>
            </a:pPr>
            <a:r>
              <a:t>Analytics Capabilities</a:t>
            </a:r>
          </a:p>
          <a:p>
            <a:pPr>
              <a:spcAft>
                <a:spcPts val="400"/>
              </a:spcAft>
              <a:defRPr sz="1000">
                <a:solidFill>
                  <a:srgbClr val="0F172A"/>
                </a:solidFill>
              </a:defRPr>
            </a:pPr>
            <a:r>
              <a:t>• Dynamic SQL Queries: Live aggregations across 11 core tables.</a:t>
            </a:r>
          </a:p>
          <a:p>
            <a:pPr>
              <a:spcAft>
                <a:spcPts val="400"/>
              </a:spcAft>
              <a:defRPr sz="1000">
                <a:solidFill>
                  <a:srgbClr val="0F172A"/>
                </a:solidFill>
              </a:defRPr>
            </a:pPr>
            <a:r>
              <a:t>• Radar Inclinations: Relative workforce enrollment density across 6 agencies.</a:t>
            </a:r>
          </a:p>
          <a:p>
            <a:pPr>
              <a:spcAft>
                <a:spcPts val="400"/>
              </a:spcAft>
              <a:defRPr sz="1000">
                <a:solidFill>
                  <a:srgbClr val="0F172A"/>
                </a:solidFill>
              </a:defRPr>
            </a:pPr>
            <a:r>
              <a:t>• Completion Velocity: Real-time time-to-completion telemetry.</a:t>
            </a:r>
          </a:p>
          <a:p>
            <a:pPr>
              <a:spcAft>
                <a:spcPts val="400"/>
              </a:spcAft>
              <a:defRPr sz="1000">
                <a:solidFill>
                  <a:srgbClr val="0F172A"/>
                </a:solidFill>
              </a:defRPr>
            </a:pPr>
            <a:r>
              <a:t>• Competency Index: Submission grades and assessment scores.</a:t>
            </a:r>
          </a:p>
          <a:p>
            <a:pPr>
              <a:spcAft>
                <a:spcPts val="400"/>
              </a:spcAft>
              <a:defRPr sz="1000">
                <a:solidFill>
                  <a:srgbClr val="0F172A"/>
                </a:solidFill>
              </a:defRPr>
            </a:pPr>
            <a:r>
              <a:t>• At-Risk Trainee Alerts: Flags learners falling behind target deadlines.</a:t>
            </a:r>
          </a:p>
        </p:txBody>
      </p:sp>
      <p:sp>
        <p:nvSpPr>
          <p:cNvPr id="12" name="Rounded Rectangle 11"/>
          <p:cNvSpPr/>
          <p:nvPr/>
        </p:nvSpPr>
        <p:spPr>
          <a:xfrm>
            <a:off x="731520" y="5486400"/>
            <a:ext cx="2377440" cy="868680"/>
          </a:xfrm>
          <a:prstGeom prst="roundRect">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541264"/>
            <a:ext cx="2231136" cy="758952"/>
          </a:xfrm>
          <a:prstGeom prst="rect">
            <a:avLst/>
          </a:prstGeom>
          <a:noFill/>
        </p:spPr>
        <p:txBody>
          <a:bodyPr wrap="square">
            <a:spAutoFit/>
          </a:bodyPr>
          <a:lstStyle/>
          <a:p>
            <a:pPr algn="ctr">
              <a:defRPr sz="2200" b="1">
                <a:solidFill>
                  <a:srgbClr val="38BDF8"/>
                </a:solidFill>
              </a:defRPr>
            </a:pPr>
            <a:r>
              <a:t>100%</a:t>
            </a:r>
          </a:p>
          <a:p>
            <a:pPr algn="ctr">
              <a:defRPr sz="950" b="1">
                <a:solidFill>
                  <a:srgbClr val="0B1F5E"/>
                </a:solidFill>
              </a:defRPr>
            </a:pPr>
            <a:r>
              <a:t>Live SQL Computation</a:t>
            </a:r>
          </a:p>
          <a:p>
            <a:pPr algn="ctr">
              <a:defRPr sz="800">
                <a:solidFill>
                  <a:srgbClr val="64748B"/>
                </a:solidFill>
              </a:defRPr>
            </a:pPr>
            <a:r>
              <a:t>Zero Hardcoded Data</a:t>
            </a:r>
          </a:p>
        </p:txBody>
      </p:sp>
      <p:sp>
        <p:nvSpPr>
          <p:cNvPr id="14" name="Rounded Rectangle 13"/>
          <p:cNvSpPr/>
          <p:nvPr/>
        </p:nvSpPr>
        <p:spPr>
          <a:xfrm>
            <a:off x="3474720" y="5486400"/>
            <a:ext cx="2377440"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5541264"/>
            <a:ext cx="2231136" cy="758952"/>
          </a:xfrm>
          <a:prstGeom prst="rect">
            <a:avLst/>
          </a:prstGeom>
          <a:noFill/>
        </p:spPr>
        <p:txBody>
          <a:bodyPr wrap="square">
            <a:spAutoFit/>
          </a:bodyPr>
          <a:lstStyle/>
          <a:p>
            <a:pPr algn="ctr">
              <a:defRPr sz="2200" b="1">
                <a:solidFill>
                  <a:srgbClr val="2563EB"/>
                </a:solidFill>
              </a:defRPr>
            </a:pPr>
            <a:r>
              <a:t>6 Vectors</a:t>
            </a:r>
          </a:p>
          <a:p>
            <a:pPr algn="ctr">
              <a:defRPr sz="950" b="1">
                <a:solidFill>
                  <a:srgbClr val="0B1F5E"/>
                </a:solidFill>
              </a:defRPr>
            </a:pPr>
            <a:r>
              <a:t>Radar Inclination</a:t>
            </a:r>
          </a:p>
          <a:p>
            <a:pPr algn="ctr">
              <a:defRPr sz="800">
                <a:solidFill>
                  <a:srgbClr val="64748B"/>
                </a:solidFill>
              </a:defRPr>
            </a:pPr>
            <a:r>
              <a:t>DOST Agency Domains</a:t>
            </a:r>
          </a:p>
        </p:txBody>
      </p:sp>
      <p:sp>
        <p:nvSpPr>
          <p:cNvPr id="16" name="Rounded Rectangle 15"/>
          <p:cNvSpPr/>
          <p:nvPr/>
        </p:nvSpPr>
        <p:spPr>
          <a:xfrm>
            <a:off x="6217920" y="5486400"/>
            <a:ext cx="2377440" cy="868680"/>
          </a:xfrm>
          <a:prstGeom prst="roundRect">
            <a:avLst/>
          </a:prstGeom>
          <a:solidFill>
            <a:srgbClr val="FFFFFF"/>
          </a:solidFill>
          <a:ln w="19050">
            <a:solidFill>
              <a:srgbClr val="0B1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5541264"/>
            <a:ext cx="2231136" cy="758952"/>
          </a:xfrm>
          <a:prstGeom prst="rect">
            <a:avLst/>
          </a:prstGeom>
          <a:noFill/>
        </p:spPr>
        <p:txBody>
          <a:bodyPr wrap="square">
            <a:spAutoFit/>
          </a:bodyPr>
          <a:lstStyle/>
          <a:p>
            <a:pPr algn="ctr">
              <a:defRPr sz="2200" b="1">
                <a:solidFill>
                  <a:srgbClr val="0B1F5E"/>
                </a:solidFill>
              </a:defRPr>
            </a:pPr>
            <a:r>
              <a:t>11 Tables</a:t>
            </a:r>
          </a:p>
          <a:p>
            <a:pPr algn="ctr">
              <a:defRPr sz="950" b="1">
                <a:solidFill>
                  <a:srgbClr val="0B1F5E"/>
                </a:solidFill>
              </a:defRPr>
            </a:pPr>
            <a:r>
              <a:t>Live Row Monitoring</a:t>
            </a:r>
          </a:p>
          <a:p>
            <a:pPr algn="ctr">
              <a:defRPr sz="800">
                <a:solidFill>
                  <a:srgbClr val="64748B"/>
                </a:solidFill>
              </a:defRPr>
            </a:pPr>
            <a:r>
              <a:t>Full IT Transparency</a:t>
            </a:r>
          </a:p>
        </p:txBody>
      </p:sp>
      <p:sp>
        <p:nvSpPr>
          <p:cNvPr id="18" name="Rounded Rectangle 17"/>
          <p:cNvSpPr/>
          <p:nvPr/>
        </p:nvSpPr>
        <p:spPr>
          <a:xfrm>
            <a:off x="8961120" y="5486400"/>
            <a:ext cx="2468880"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34272" y="5541264"/>
            <a:ext cx="2322576" cy="758952"/>
          </a:xfrm>
          <a:prstGeom prst="rect">
            <a:avLst/>
          </a:prstGeom>
          <a:noFill/>
        </p:spPr>
        <p:txBody>
          <a:bodyPr wrap="square">
            <a:spAutoFit/>
          </a:bodyPr>
          <a:lstStyle/>
          <a:p>
            <a:pPr algn="ctr">
              <a:defRPr sz="2200" b="1">
                <a:solidFill>
                  <a:srgbClr val="10B981"/>
                </a:solidFill>
              </a:defRPr>
            </a:pPr>
            <a:r>
              <a:t>&lt; 80 ms</a:t>
            </a:r>
          </a:p>
          <a:p>
            <a:pPr algn="ctr">
              <a:defRPr sz="950" b="1">
                <a:solidFill>
                  <a:srgbClr val="0B1F5E"/>
                </a:solidFill>
              </a:defRPr>
            </a:pPr>
            <a:r>
              <a:t>API Response Time</a:t>
            </a:r>
          </a:p>
          <a:p>
            <a:pPr algn="ctr">
              <a:defRPr sz="800">
                <a:solidFill>
                  <a:srgbClr val="64748B"/>
                </a:solidFill>
              </a:defRPr>
            </a:pPr>
            <a:r>
              <a:t>Indexed Foreign Keys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FRONTEND ARCHITECTURE</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UI/UX Design System &amp; Apple HIG Widescreen Rails</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Satya Harika</a:t>
            </a:r>
          </a:p>
          <a:p>
            <a:pPr>
              <a:defRPr sz="850">
                <a:solidFill>
                  <a:srgbClr val="CBD5E1"/>
                </a:solidFill>
              </a:defRPr>
            </a:pPr>
            <a:r>
              <a:t>Lead UI/UX Frontend (6:45 - 8:00)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pic>
        <p:nvPicPr>
          <p:cNvPr id="8" name="Picture 7" descr="diagram_design_system.png"/>
          <p:cNvPicPr>
            <a:picLocks noChangeAspect="1"/>
          </p:cNvPicPr>
          <p:nvPr/>
        </p:nvPicPr>
        <p:blipFill>
          <a:blip r:embed="rId3"/>
          <a:stretch>
            <a:fillRect/>
          </a:stretch>
        </p:blipFill>
        <p:spPr>
          <a:xfrm>
            <a:off x="731520" y="1234440"/>
            <a:ext cx="7498079" cy="4114800"/>
          </a:xfrm>
          <a:prstGeom prst="rect">
            <a:avLst/>
          </a:prstGeom>
        </p:spPr>
      </p:pic>
      <p:sp>
        <p:nvSpPr>
          <p:cNvPr id="9" name="Rounded Rectangle 8"/>
          <p:cNvSpPr/>
          <p:nvPr/>
        </p:nvSpPr>
        <p:spPr>
          <a:xfrm>
            <a:off x="8412480" y="1234440"/>
            <a:ext cx="3017520" cy="41148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12480" y="1234440"/>
            <a:ext cx="30175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77072" y="1325880"/>
            <a:ext cx="2688336" cy="3931920"/>
          </a:xfrm>
          <a:prstGeom prst="rect">
            <a:avLst/>
          </a:prstGeom>
          <a:noFill/>
        </p:spPr>
        <p:txBody>
          <a:bodyPr wrap="square">
            <a:spAutoFit/>
          </a:bodyPr>
          <a:lstStyle/>
          <a:p>
            <a:pPr>
              <a:spcAft>
                <a:spcPts val="700"/>
              </a:spcAft>
              <a:defRPr sz="1300" b="1">
                <a:solidFill>
                  <a:srgbClr val="0B1F5E"/>
                </a:solidFill>
              </a:defRPr>
            </a:pPr>
            <a:r>
              <a:t>Design Innovations</a:t>
            </a:r>
          </a:p>
          <a:p>
            <a:pPr>
              <a:spcAft>
                <a:spcPts val="400"/>
              </a:spcAft>
              <a:defRPr sz="1000">
                <a:solidFill>
                  <a:srgbClr val="0F172A"/>
                </a:solidFill>
              </a:defRPr>
            </a:pPr>
            <a:r>
              <a:t>• 1600px Fluid Rails: Replaced 1100px constricted layout with modern widescreen grid.</a:t>
            </a:r>
          </a:p>
          <a:p>
            <a:pPr>
              <a:spcAft>
                <a:spcPts val="400"/>
              </a:spcAft>
              <a:defRPr sz="1000">
                <a:solidFill>
                  <a:srgbClr val="0F172A"/>
                </a:solidFill>
              </a:defRPr>
            </a:pPr>
            <a:r>
              <a:t>• Hero Void Fix: Eliminated 660px gap; cohesive 56px spacing with slide indicator pills.</a:t>
            </a:r>
          </a:p>
          <a:p>
            <a:pPr>
              <a:spcAft>
                <a:spcPts val="400"/>
              </a:spcAft>
              <a:defRPr sz="1000">
                <a:solidFill>
                  <a:srgbClr val="0F172A"/>
                </a:solidFill>
              </a:defRPr>
            </a:pPr>
            <a:r>
              <a:t>• Fluid clamp() Typography: Headings scale smoothly from 44px to 58px across displays.</a:t>
            </a:r>
          </a:p>
          <a:p>
            <a:pPr>
              <a:spcAft>
                <a:spcPts val="400"/>
              </a:spcAft>
              <a:defRPr sz="1000">
                <a:solidFill>
                  <a:srgbClr val="0F172A"/>
                </a:solidFill>
              </a:defRPr>
            </a:pPr>
            <a:r>
              <a:t>• DOST Executive Palette: #0B1F5E Navy, #2563EB Blue, #38BDF8 Sky, #10B981 Emerald.</a:t>
            </a:r>
          </a:p>
          <a:p>
            <a:pPr>
              <a:spcAft>
                <a:spcPts val="400"/>
              </a:spcAft>
              <a:defRPr sz="1000">
                <a:solidFill>
                  <a:srgbClr val="0F172A"/>
                </a:solidFill>
              </a:defRPr>
            </a:pPr>
            <a:r>
              <a:t>• Apple HIG Micro-Interactions: Layered elevation shadows and 4px hover lift.</a:t>
            </a:r>
          </a:p>
        </p:txBody>
      </p:sp>
      <p:sp>
        <p:nvSpPr>
          <p:cNvPr id="12" name="Rounded Rectangle 11"/>
          <p:cNvSpPr/>
          <p:nvPr/>
        </p:nvSpPr>
        <p:spPr>
          <a:xfrm>
            <a:off x="731520" y="5486400"/>
            <a:ext cx="10698480" cy="822960"/>
          </a:xfrm>
          <a:prstGeom prst="roundRect">
            <a:avLst/>
          </a:prstGeom>
          <a:solidFill>
            <a:srgbClr val="071536"/>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00" b="1">
                <a:solidFill>
                  <a:srgbClr val="38BDF8"/>
                </a:solidFill>
              </a:defRPr>
            </a:pPr>
            <a:r>
              <a:t>STANDARDIZED LAYOUT TOKENS ACROSS ALL PORTALS</a:t>
            </a:r>
          </a:p>
          <a:p>
            <a:pPr>
              <a:defRPr sz="900">
                <a:solidFill>
                  <a:srgbClr val="E2E8F0"/>
                </a:solidFill>
              </a:defRPr>
            </a:pPr>
            <a:r>
              <a:t>Unified rails applied across LandingPage, LearnerHeader, MentorHeader, AdminHeader, and internal studio views, ensuring 100% visual consistency and responsive navigation across mobile, desktop, and 4K displays.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INTERFACE ENGINEERING</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Dual Admin Portals &amp; Role-Isolated Workspaces</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Satya Harika</a:t>
            </a:r>
          </a:p>
          <a:p>
            <a:pPr>
              <a:defRPr sz="850">
                <a:solidFill>
                  <a:srgbClr val="CBD5E1"/>
                </a:solidFill>
              </a:defRPr>
            </a:pPr>
            <a:r>
              <a:t>Lead UI/UX Frontend (8:00 - 9:15)</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sp>
        <p:nvSpPr>
          <p:cNvPr id="8" name="Rounded Rectangle 7"/>
          <p:cNvSpPr/>
          <p:nvPr/>
        </p:nvSpPr>
        <p:spPr>
          <a:xfrm>
            <a:off x="731520" y="1280160"/>
            <a:ext cx="512064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280160"/>
            <a:ext cx="512064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71600"/>
            <a:ext cx="4791456" cy="3749040"/>
          </a:xfrm>
          <a:prstGeom prst="rect">
            <a:avLst/>
          </a:prstGeom>
          <a:noFill/>
        </p:spPr>
        <p:txBody>
          <a:bodyPr wrap="square">
            <a:spAutoFit/>
          </a:bodyPr>
          <a:lstStyle/>
          <a:p>
            <a:pPr>
              <a:spcAft>
                <a:spcPts val="700"/>
              </a:spcAft>
              <a:defRPr sz="1300" b="1">
                <a:solidFill>
                  <a:srgbClr val="0B1F5E"/>
                </a:solidFill>
              </a:defRPr>
            </a:pPr>
            <a:r>
              <a:t>Admin - Functional Portal (HR / Academic Owner)</a:t>
            </a:r>
          </a:p>
          <a:p>
            <a:pPr>
              <a:spcAft>
                <a:spcPts val="400"/>
              </a:spcAft>
              <a:defRPr sz="1000">
                <a:solidFill>
                  <a:srgbClr val="0F172A"/>
                </a:solidFill>
              </a:defRPr>
            </a:pPr>
            <a:r>
              <a:t>• Curriculum Governance: Direct control over the 6 DOST agency branches and specializations.</a:t>
            </a:r>
          </a:p>
          <a:p>
            <a:pPr>
              <a:spcAft>
                <a:spcPts val="400"/>
              </a:spcAft>
              <a:defRPr sz="1000">
                <a:solidFill>
                  <a:srgbClr val="0F172A"/>
                </a:solidFill>
              </a:defRPr>
            </a:pPr>
            <a:r>
              <a:t>• Course &amp; Metadata Studio: Author, edit, publish, or archive agency training programs.</a:t>
            </a:r>
          </a:p>
          <a:p>
            <a:pPr>
              <a:spcAft>
                <a:spcPts val="400"/>
              </a:spcAft>
              <a:defRPr sz="1000">
                <a:solidFill>
                  <a:srgbClr val="0F172A"/>
                </a:solidFill>
              </a:defRPr>
            </a:pPr>
            <a:r>
              <a:t>• Faculty Mentor Oversight: Assign accredited teachers to branches; review course approval requests.</a:t>
            </a:r>
          </a:p>
          <a:p>
            <a:pPr>
              <a:spcAft>
                <a:spcPts val="400"/>
              </a:spcAft>
              <a:defRPr sz="1000">
                <a:solidFill>
                  <a:srgbClr val="0F172A"/>
                </a:solidFill>
              </a:defRPr>
            </a:pPr>
            <a:r>
              <a:t>• Trainee Account Verification: Approve or reject new public learner account registrations.</a:t>
            </a:r>
          </a:p>
          <a:p>
            <a:pPr>
              <a:spcAft>
                <a:spcPts val="400"/>
              </a:spcAft>
              <a:defRPr sz="1000">
                <a:solidFill>
                  <a:srgbClr val="0F172A"/>
                </a:solidFill>
              </a:defRPr>
            </a:pPr>
            <a:r>
              <a:t>• Executive Analytics Suite: Interactive radar charts and agency completion tracking.</a:t>
            </a:r>
          </a:p>
        </p:txBody>
      </p:sp>
      <p:sp>
        <p:nvSpPr>
          <p:cNvPr id="11" name="Rounded Rectangle 10"/>
          <p:cNvSpPr/>
          <p:nvPr/>
        </p:nvSpPr>
        <p:spPr>
          <a:xfrm>
            <a:off x="6217920" y="1280160"/>
            <a:ext cx="5212080" cy="39319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212080" cy="54864"/>
          </a:xfrm>
          <a:prstGeom prst="rect">
            <a:avLst/>
          </a:prstGeom>
          <a:solidFill>
            <a:srgbClr val="0B1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371600"/>
            <a:ext cx="4882896" cy="3749040"/>
          </a:xfrm>
          <a:prstGeom prst="rect">
            <a:avLst/>
          </a:prstGeom>
          <a:noFill/>
        </p:spPr>
        <p:txBody>
          <a:bodyPr wrap="square">
            <a:spAutoFit/>
          </a:bodyPr>
          <a:lstStyle/>
          <a:p>
            <a:pPr>
              <a:spcAft>
                <a:spcPts val="700"/>
              </a:spcAft>
              <a:defRPr sz="1300" b="1">
                <a:solidFill>
                  <a:srgbClr val="0B1F5E"/>
                </a:solidFill>
              </a:defRPr>
            </a:pPr>
            <a:r>
              <a:t>Admin - Technical Portal (IT Systems Owner)</a:t>
            </a:r>
          </a:p>
          <a:p>
            <a:pPr>
              <a:spcAft>
                <a:spcPts val="400"/>
              </a:spcAft>
              <a:defRPr sz="1000">
                <a:solidFill>
                  <a:srgbClr val="0F172A"/>
                </a:solidFill>
              </a:defRPr>
            </a:pPr>
            <a:r>
              <a:t>• Infrastructure Telemetry: Live server uptime, memory health, and active PDO database driver.</a:t>
            </a:r>
          </a:p>
          <a:p>
            <a:pPr>
              <a:spcAft>
                <a:spcPts val="400"/>
              </a:spcAft>
              <a:defRPr sz="1000">
                <a:solidFill>
                  <a:srgbClr val="0F172A"/>
                </a:solidFill>
              </a:defRPr>
            </a:pPr>
            <a:r>
              <a:t>• Security &amp; Access Control: User role promotion/demotion matrix across all 5 tiers.</a:t>
            </a:r>
          </a:p>
          <a:p>
            <a:pPr>
              <a:spcAft>
                <a:spcPts val="400"/>
              </a:spcAft>
              <a:defRPr sz="1000">
                <a:solidFill>
                  <a:srgbClr val="0F172A"/>
                </a:solidFill>
              </a:defRPr>
            </a:pPr>
            <a:r>
              <a:t>• System Health Monitors: Real-time table row counters across all 11 database entities.</a:t>
            </a:r>
          </a:p>
          <a:p>
            <a:pPr>
              <a:spcAft>
                <a:spcPts val="400"/>
              </a:spcAft>
              <a:defRPr sz="1000">
                <a:solidFill>
                  <a:srgbClr val="0F172A"/>
                </a:solidFill>
              </a:defRPr>
            </a:pPr>
            <a:r>
              <a:t>• Audit &amp; Activity Logging: Comprehensive record of security actions and enrollment decisions.</a:t>
            </a:r>
          </a:p>
          <a:p>
            <a:pPr>
              <a:spcAft>
                <a:spcPts val="400"/>
              </a:spcAft>
              <a:defRPr sz="1000">
                <a:solidFill>
                  <a:srgbClr val="0F172A"/>
                </a:solidFill>
              </a:defRPr>
            </a:pPr>
            <a:r>
              <a:t>• Strict Role Segregation: Prevents HR personnel from altering system settings, and IT from altering pedagogical curriculum.</a:t>
            </a:r>
          </a:p>
        </p:txBody>
      </p:sp>
      <p:sp>
        <p:nvSpPr>
          <p:cNvPr id="14" name="Rounded Rectangle 13"/>
          <p:cNvSpPr/>
          <p:nvPr/>
        </p:nvSpPr>
        <p:spPr>
          <a:xfrm>
            <a:off x="731520" y="5440680"/>
            <a:ext cx="10698480" cy="86868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38BDF8"/>
                </a:solidFill>
              </a:defRPr>
            </a:pPr>
            <a:r>
              <a:t>EXECUTIVE INNOVATION: Permanent 1-Click Super-Admin Switcher Pill</a:t>
            </a:r>
          </a:p>
          <a:p>
            <a:pPr>
              <a:defRPr sz="950">
                <a:solidFill>
                  <a:srgbClr val="E2E8F0"/>
                </a:solidFill>
              </a:defRPr>
            </a:pPr>
            <a:r>
              <a:t>Super-Administrators can switch instantly between the Functional HR Portal and the Technical IT Portal with a single click in the header navigation, eliminating the need to log out or juggle separate accounts.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FEATURE ARCHITECTURE</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Full In-Browser CRUD Management Studios</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Satya Harika</a:t>
            </a:r>
          </a:p>
          <a:p>
            <a:pPr>
              <a:defRPr sz="850">
                <a:solidFill>
                  <a:srgbClr val="CBD5E1"/>
                </a:solidFill>
              </a:defRPr>
            </a:pPr>
            <a:r>
              <a:t>Lead UI/UX Frontend (9:15 - 10:30)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sp>
        <p:nvSpPr>
          <p:cNvPr id="8" name="Rounded Rectangle 7"/>
          <p:cNvSpPr/>
          <p:nvPr/>
        </p:nvSpPr>
        <p:spPr>
          <a:xfrm>
            <a:off x="731520" y="1280160"/>
            <a:ext cx="3383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280160"/>
            <a:ext cx="33832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71600"/>
            <a:ext cx="3054096" cy="4754880"/>
          </a:xfrm>
          <a:prstGeom prst="rect">
            <a:avLst/>
          </a:prstGeom>
          <a:noFill/>
        </p:spPr>
        <p:txBody>
          <a:bodyPr wrap="square">
            <a:spAutoFit/>
          </a:bodyPr>
          <a:lstStyle/>
          <a:p>
            <a:pPr>
              <a:spcAft>
                <a:spcPts val="700"/>
              </a:spcAft>
              <a:defRPr sz="1300" b="1">
                <a:solidFill>
                  <a:srgbClr val="0B1F5E"/>
                </a:solidFill>
              </a:defRPr>
            </a:pPr>
            <a:r>
              <a:t>1. Course &amp; Content Studio</a:t>
            </a:r>
          </a:p>
          <a:p>
            <a:pPr>
              <a:spcAft>
                <a:spcPts val="400"/>
              </a:spcAft>
              <a:defRPr sz="1000">
                <a:solidFill>
                  <a:srgbClr val="0F172A"/>
                </a:solidFill>
              </a:defRPr>
            </a:pPr>
            <a:r>
              <a:t>• Zero-Code Management: Create, edit, publish, and delete courses directly in the browser.</a:t>
            </a:r>
          </a:p>
          <a:p>
            <a:pPr>
              <a:spcAft>
                <a:spcPts val="400"/>
              </a:spcAft>
              <a:defRPr sz="1000">
                <a:solidFill>
                  <a:srgbClr val="0F172A"/>
                </a:solidFill>
              </a:defRPr>
            </a:pPr>
            <a:r>
              <a:t>• Modular Lesson Builder: Add course chapters, video URLs (YouTube/Vimeo/MP4 embeds), and rich topic guides.</a:t>
            </a:r>
          </a:p>
          <a:p>
            <a:pPr>
              <a:spcAft>
                <a:spcPts val="400"/>
              </a:spcAft>
              <a:defRPr sz="1000">
                <a:solidFill>
                  <a:srgbClr val="0F172A"/>
                </a:solidFill>
              </a:defRPr>
            </a:pPr>
            <a:r>
              <a:t>• Interactive Form Modals: Real-time validation, branch selection, and instant UI state synchronization.</a:t>
            </a:r>
          </a:p>
          <a:p>
            <a:pPr>
              <a:spcAft>
                <a:spcPts val="400"/>
              </a:spcAft>
              <a:defRPr sz="1000">
                <a:solidFill>
                  <a:srgbClr val="0F172A"/>
                </a:solidFill>
              </a:defRPr>
            </a:pPr>
            <a:r>
              <a:t>• Faculty Assignment: Assign accredited mentors to specific courses with automatic permission enforcement.</a:t>
            </a:r>
          </a:p>
        </p:txBody>
      </p:sp>
      <p:sp>
        <p:nvSpPr>
          <p:cNvPr id="11" name="Rounded Rectangle 10"/>
          <p:cNvSpPr/>
          <p:nvPr/>
        </p:nvSpPr>
        <p:spPr>
          <a:xfrm>
            <a:off x="4389120" y="1280160"/>
            <a:ext cx="3383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280160"/>
            <a:ext cx="3383280" cy="54864"/>
          </a:xfrm>
          <a:prstGeom prst="rect">
            <a:avLst/>
          </a:prstGeom>
          <a:solidFill>
            <a:srgbClr val="38BD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53712" y="1371600"/>
            <a:ext cx="3054096" cy="4754880"/>
          </a:xfrm>
          <a:prstGeom prst="rect">
            <a:avLst/>
          </a:prstGeom>
          <a:noFill/>
        </p:spPr>
        <p:txBody>
          <a:bodyPr wrap="square">
            <a:spAutoFit/>
          </a:bodyPr>
          <a:lstStyle/>
          <a:p>
            <a:pPr>
              <a:spcAft>
                <a:spcPts val="700"/>
              </a:spcAft>
              <a:defRPr sz="1300" b="1">
                <a:solidFill>
                  <a:srgbClr val="0B1F5E"/>
                </a:solidFill>
              </a:defRPr>
            </a:pPr>
            <a:r>
              <a:t>2. User &amp; Access Matrix</a:t>
            </a:r>
          </a:p>
          <a:p>
            <a:pPr>
              <a:spcAft>
                <a:spcPts val="400"/>
              </a:spcAft>
              <a:defRPr sz="1000">
                <a:solidFill>
                  <a:srgbClr val="0F172A"/>
                </a:solidFill>
              </a:defRPr>
            </a:pPr>
            <a:r>
              <a:t>• Unified User Roster: Instant filtering by role, department, and verification status.</a:t>
            </a:r>
          </a:p>
          <a:p>
            <a:pPr>
              <a:spcAft>
                <a:spcPts val="400"/>
              </a:spcAft>
              <a:defRPr sz="1000">
                <a:solidFill>
                  <a:srgbClr val="0F172A"/>
                </a:solidFill>
              </a:defRPr>
            </a:pPr>
            <a:r>
              <a:t>• 1-Click Role Promotion: Change user role between Employee, Mentor, Functional Admin, and Technical Admin.</a:t>
            </a:r>
          </a:p>
          <a:p>
            <a:pPr>
              <a:spcAft>
                <a:spcPts val="400"/>
              </a:spcAft>
              <a:defRPr sz="1000">
                <a:solidFill>
                  <a:srgbClr val="0F172A"/>
                </a:solidFill>
              </a:defRPr>
            </a:pPr>
            <a:r>
              <a:t>• Account Moderation: Immediate approval or rejection of pending trainee registrations.</a:t>
            </a:r>
          </a:p>
          <a:p>
            <a:pPr>
              <a:spcAft>
                <a:spcPts val="400"/>
              </a:spcAft>
              <a:defRPr sz="1000">
                <a:solidFill>
                  <a:srgbClr val="0F172A"/>
                </a:solidFill>
              </a:defRPr>
            </a:pPr>
            <a:r>
              <a:t>• Profile &amp; Credential Recovery: Streamlined password resets and department reassignment.</a:t>
            </a:r>
          </a:p>
        </p:txBody>
      </p:sp>
      <p:sp>
        <p:nvSpPr>
          <p:cNvPr id="14" name="Rounded Rectangle 13"/>
          <p:cNvSpPr/>
          <p:nvPr/>
        </p:nvSpPr>
        <p:spPr>
          <a:xfrm>
            <a:off x="8046720" y="1280160"/>
            <a:ext cx="33832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280160"/>
            <a:ext cx="338328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11312" y="1371600"/>
            <a:ext cx="3054096" cy="4754880"/>
          </a:xfrm>
          <a:prstGeom prst="rect">
            <a:avLst/>
          </a:prstGeom>
          <a:noFill/>
        </p:spPr>
        <p:txBody>
          <a:bodyPr wrap="square">
            <a:spAutoFit/>
          </a:bodyPr>
          <a:lstStyle/>
          <a:p>
            <a:pPr>
              <a:spcAft>
                <a:spcPts val="700"/>
              </a:spcAft>
              <a:defRPr sz="1300" b="1">
                <a:solidFill>
                  <a:srgbClr val="0B1F5E"/>
                </a:solidFill>
              </a:defRPr>
            </a:pPr>
            <a:r>
              <a:t>3. Assessment &amp; Certificate Desk</a:t>
            </a:r>
          </a:p>
          <a:p>
            <a:pPr>
              <a:spcAft>
                <a:spcPts val="400"/>
              </a:spcAft>
              <a:defRPr sz="1000">
                <a:solidFill>
                  <a:srgbClr val="0F172A"/>
                </a:solidFill>
              </a:defRPr>
            </a:pPr>
            <a:r>
              <a:t>• Quiz Creation Studio: Formulate multiple-choice and modular assessments with passing score criteria.</a:t>
            </a:r>
          </a:p>
          <a:p>
            <a:pPr>
              <a:spcAft>
                <a:spcPts val="400"/>
              </a:spcAft>
              <a:defRPr sz="1000">
                <a:solidFill>
                  <a:srgbClr val="0F172A"/>
                </a:solidFill>
              </a:defRPr>
            </a:pPr>
            <a:r>
              <a:t>• Mentor Grading Desk: Review trainee submissions, assign marks, and provide pedagogical feedback.</a:t>
            </a:r>
          </a:p>
          <a:p>
            <a:pPr>
              <a:spcAft>
                <a:spcPts val="400"/>
              </a:spcAft>
              <a:defRPr sz="1000">
                <a:solidFill>
                  <a:srgbClr val="0F172A"/>
                </a:solidFill>
              </a:defRPr>
            </a:pPr>
            <a:r>
              <a:t>• Automated Certification: Auto-generates official certificates with DOST seal and PDF export upon completion.</a:t>
            </a:r>
          </a:p>
          <a:p>
            <a:pPr>
              <a:spcAft>
                <a:spcPts val="400"/>
              </a:spcAft>
              <a:defRPr sz="1000">
                <a:solidFill>
                  <a:srgbClr val="0F172A"/>
                </a:solidFill>
              </a:defRPr>
            </a:pPr>
            <a:r>
              <a:t>• Verification Hash: Prevents certificate tampering with unique cryptographic issue codes.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TESTING &amp; VERIFICATION</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Quality Assurance Strategy &amp; Verification Results</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Nikhittha Mukkala</a:t>
            </a:r>
          </a:p>
          <a:p>
            <a:pPr>
              <a:defRPr sz="850">
                <a:solidFill>
                  <a:srgbClr val="CBD5E1"/>
                </a:solidFill>
              </a:defRPr>
            </a:pPr>
            <a:r>
              <a:t>QA &amp; Verification Lead (10:30 - 13:00)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graphicFrame>
        <p:nvGraphicFramePr>
          <p:cNvPr id="8" name="Table 7"/>
          <p:cNvGraphicFramePr>
            <a:graphicFrameLocks noGrp="1"/>
          </p:cNvGraphicFramePr>
          <p:nvPr/>
        </p:nvGraphicFramePr>
        <p:xfrm>
          <a:off x="731520" y="1280160"/>
          <a:ext cx="10698480" cy="3931920"/>
        </p:xfrm>
        <a:graphic>
          <a:graphicData uri="http://schemas.openxmlformats.org/drawingml/2006/table">
            <a:tbl>
              <a:tblPr firstRow="1" bandRow="1">
                <a:tableStyleId>{5C22544A-7EE6-4342-B048-85BDC9FD1C3A}</a:tableStyleId>
              </a:tblPr>
              <a:tblGrid>
                <a:gridCol w="2286000"/>
                <a:gridCol w="3291840"/>
                <a:gridCol w="3474720"/>
                <a:gridCol w="1645920"/>
              </a:tblGrid>
              <a:tr h="655320">
                <a:tc>
                  <a:txBody>
                    <a:bodyPr/>
                    <a:lstStyle/>
                    <a:p>
                      <a:pPr algn="ctr">
                        <a:defRPr b="1" sz="950">
                          <a:solidFill>
                            <a:srgbClr val="FFFFFF"/>
                          </a:solidFill>
                        </a:defRPr>
                      </a:pPr>
                      <a:r>
                        <a:t>Identified Defect / Edge Case</a:t>
                      </a:r>
                    </a:p>
                  </a:txBody>
                  <a:tcPr>
                    <a:solidFill>
                      <a:srgbClr val="0B1F5E"/>
                    </a:solidFill>
                  </a:tcPr>
                </a:tc>
                <a:tc>
                  <a:txBody>
                    <a:bodyPr/>
                    <a:lstStyle/>
                    <a:p>
                      <a:pPr algn="ctr">
                        <a:defRPr b="1" sz="950">
                          <a:solidFill>
                            <a:srgbClr val="FFFFFF"/>
                          </a:solidFill>
                        </a:defRPr>
                      </a:pPr>
                      <a:r>
                        <a:t>Root Cause Analysis</a:t>
                      </a:r>
                    </a:p>
                  </a:txBody>
                  <a:tcPr>
                    <a:solidFill>
                      <a:srgbClr val="0B1F5E"/>
                    </a:solidFill>
                  </a:tcPr>
                </a:tc>
                <a:tc>
                  <a:txBody>
                    <a:bodyPr/>
                    <a:lstStyle/>
                    <a:p>
                      <a:pPr algn="ctr">
                        <a:defRPr b="1" sz="950">
                          <a:solidFill>
                            <a:srgbClr val="FFFFFF"/>
                          </a:solidFill>
                        </a:defRPr>
                      </a:pPr>
                      <a:r>
                        <a:t>Engineering Fix Applied</a:t>
                      </a:r>
                    </a:p>
                  </a:txBody>
                  <a:tcPr>
                    <a:solidFill>
                      <a:srgbClr val="0B1F5E"/>
                    </a:solidFill>
                  </a:tcPr>
                </a:tc>
                <a:tc>
                  <a:txBody>
                    <a:bodyPr/>
                    <a:lstStyle/>
                    <a:p>
                      <a:pPr algn="ctr">
                        <a:defRPr b="1" sz="950">
                          <a:solidFill>
                            <a:srgbClr val="FFFFFF"/>
                          </a:solidFill>
                        </a:defRPr>
                      </a:pPr>
                      <a:r>
                        <a:t>Verification Status</a:t>
                      </a:r>
                    </a:p>
                  </a:txBody>
                  <a:tcPr>
                    <a:solidFill>
                      <a:srgbClr val="0B1F5E"/>
                    </a:solidFill>
                  </a:tcPr>
                </a:tc>
              </a:tr>
              <a:tr h="655320">
                <a:tc>
                  <a:txBody>
                    <a:bodyPr/>
                    <a:lstStyle/>
                    <a:p>
                      <a:pPr>
                        <a:defRPr sz="850" b="1">
                          <a:solidFill>
                            <a:srgbClr val="0F172A"/>
                          </a:solidFill>
                        </a:defRPr>
                      </a:pPr>
                      <a:r>
                        <a:t>Syllabus Route Redirect</a:t>
                      </a:r>
                    </a:p>
                  </a:txBody>
                  <a:tcPr>
                    <a:solidFill>
                      <a:srgbClr val="FFFFFF"/>
                    </a:solidFill>
                  </a:tcPr>
                </a:tc>
                <a:tc>
                  <a:txBody>
                    <a:bodyPr/>
                    <a:lstStyle/>
                    <a:p>
                      <a:pPr>
                        <a:defRPr sz="850">
                          <a:solidFill>
                            <a:srgbClr val="0F172A"/>
                          </a:solidFill>
                        </a:defRPr>
                      </a:pPr>
                      <a:r>
                        <a:t>Missing dynamic `/courses/:id` mapping in React Router</a:t>
                      </a:r>
                    </a:p>
                  </a:txBody>
                  <a:tcPr>
                    <a:solidFill>
                      <a:srgbClr val="FFFFFF"/>
                    </a:solidFill>
                  </a:tcPr>
                </a:tc>
                <a:tc>
                  <a:txBody>
                    <a:bodyPr/>
                    <a:lstStyle/>
                    <a:p>
                      <a:pPr>
                        <a:defRPr sz="850">
                          <a:solidFill>
                            <a:srgbClr val="0F172A"/>
                          </a:solidFill>
                        </a:defRPr>
                      </a:pPr>
                      <a:r>
                        <a:t>Wired CourseDetailsPage route with branch context</a:t>
                      </a:r>
                    </a:p>
                  </a:txBody>
                  <a:tcPr>
                    <a:solidFill>
                      <a:srgbClr val="FFFFFF"/>
                    </a:solidFill>
                  </a:tcPr>
                </a:tc>
                <a:tc>
                  <a:txBody>
                    <a:bodyPr/>
                    <a:lstStyle/>
                    <a:p>
                      <a:pPr>
                        <a:defRPr sz="850">
                          <a:solidFill>
                            <a:srgbClr val="0F172A"/>
                          </a:solidFill>
                        </a:defRPr>
                      </a:pPr>
                      <a:r>
                        <a:t>RESOLVED [100% PASS]</a:t>
                      </a:r>
                    </a:p>
                  </a:txBody>
                  <a:tcPr>
                    <a:solidFill>
                      <a:srgbClr val="FFFFFF"/>
                    </a:solidFill>
                  </a:tcPr>
                </a:tc>
              </a:tr>
              <a:tr h="655320">
                <a:tc>
                  <a:txBody>
                    <a:bodyPr/>
                    <a:lstStyle/>
                    <a:p>
                      <a:pPr>
                        <a:defRPr sz="850" b="1">
                          <a:solidFill>
                            <a:srgbClr val="0F172A"/>
                          </a:solidFill>
                        </a:defRPr>
                      </a:pPr>
                      <a:r>
                        <a:t>CourseController 500 Error</a:t>
                      </a:r>
                    </a:p>
                  </a:txBody>
                  <a:tcPr>
                    <a:solidFill>
                      <a:srgbClr val="F1F5F9"/>
                    </a:solidFill>
                  </a:tcPr>
                </a:tc>
                <a:tc>
                  <a:txBody>
                    <a:bodyPr/>
                    <a:lstStyle/>
                    <a:p>
                      <a:pPr>
                        <a:defRPr sz="850">
                          <a:solidFill>
                            <a:srgbClr val="0F172A"/>
                          </a:solidFill>
                        </a:defRPr>
                      </a:pPr>
                      <a:r>
                        <a:t>Unauthenticated guest requests caused null user pointer</a:t>
                      </a:r>
                    </a:p>
                  </a:txBody>
                  <a:tcPr>
                    <a:solidFill>
                      <a:srgbClr val="F1F5F9"/>
                    </a:solidFill>
                  </a:tcPr>
                </a:tc>
                <a:tc>
                  <a:txBody>
                    <a:bodyPr/>
                    <a:lstStyle/>
                    <a:p>
                      <a:pPr>
                        <a:defRPr sz="850">
                          <a:solidFill>
                            <a:srgbClr val="0F172A"/>
                          </a:solidFill>
                        </a:defRPr>
                      </a:pPr>
                      <a:r>
                        <a:t>Added auth guard fallback for public syllabus preview</a:t>
                      </a:r>
                    </a:p>
                  </a:txBody>
                  <a:tcPr>
                    <a:solidFill>
                      <a:srgbClr val="F1F5F9"/>
                    </a:solidFill>
                  </a:tcPr>
                </a:tc>
                <a:tc>
                  <a:txBody>
                    <a:bodyPr/>
                    <a:lstStyle/>
                    <a:p>
                      <a:pPr>
                        <a:defRPr sz="850">
                          <a:solidFill>
                            <a:srgbClr val="0F172A"/>
                          </a:solidFill>
                        </a:defRPr>
                      </a:pPr>
                      <a:r>
                        <a:t>RESOLVED [100% PASS]</a:t>
                      </a:r>
                    </a:p>
                  </a:txBody>
                  <a:tcPr>
                    <a:solidFill>
                      <a:srgbClr val="F1F5F9"/>
                    </a:solidFill>
                  </a:tcPr>
                </a:tc>
              </a:tr>
              <a:tr h="655320">
                <a:tc>
                  <a:txBody>
                    <a:bodyPr/>
                    <a:lstStyle/>
                    <a:p>
                      <a:pPr>
                        <a:defRPr sz="850" b="1">
                          <a:solidFill>
                            <a:srgbClr val="0F172A"/>
                          </a:solidFill>
                        </a:defRPr>
                      </a:pPr>
                      <a:r>
                        <a:t>Missing Branch Photography</a:t>
                      </a:r>
                    </a:p>
                  </a:txBody>
                  <a:tcPr>
                    <a:solidFill>
                      <a:srgbClr val="FFFFFF"/>
                    </a:solidFill>
                  </a:tcPr>
                </a:tc>
                <a:tc>
                  <a:txBody>
                    <a:bodyPr/>
                    <a:lstStyle/>
                    <a:p>
                      <a:pPr>
                        <a:defRPr sz="850">
                          <a:solidFill>
                            <a:srgbClr val="0F172A"/>
                          </a:solidFill>
                        </a:defRPr>
                      </a:pPr>
                      <a:r>
                        <a:t>Assets referenced external paths without local fallback</a:t>
                      </a:r>
                    </a:p>
                  </a:txBody>
                  <a:tcPr>
                    <a:solidFill>
                      <a:srgbClr val="FFFFFF"/>
                    </a:solidFill>
                  </a:tcPr>
                </a:tc>
                <a:tc>
                  <a:txBody>
                    <a:bodyPr/>
                    <a:lstStyle/>
                    <a:p>
                      <a:pPr>
                        <a:defRPr sz="850">
                          <a:solidFill>
                            <a:srgbClr val="0F172A"/>
                          </a:solidFill>
                        </a:defRPr>
                      </a:pPr>
                      <a:r>
                        <a:t>Bundled 21 static assets in `public/assets/` directory</a:t>
                      </a:r>
                    </a:p>
                  </a:txBody>
                  <a:tcPr>
                    <a:solidFill>
                      <a:srgbClr val="FFFFFF"/>
                    </a:solidFill>
                  </a:tcPr>
                </a:tc>
                <a:tc>
                  <a:txBody>
                    <a:bodyPr/>
                    <a:lstStyle/>
                    <a:p>
                      <a:pPr>
                        <a:defRPr sz="850">
                          <a:solidFill>
                            <a:srgbClr val="0F172A"/>
                          </a:solidFill>
                        </a:defRPr>
                      </a:pPr>
                      <a:r>
                        <a:t>RESOLVED [200 OK]</a:t>
                      </a:r>
                    </a:p>
                  </a:txBody>
                  <a:tcPr>
                    <a:solidFill>
                      <a:srgbClr val="FFFFFF"/>
                    </a:solidFill>
                  </a:tcPr>
                </a:tc>
              </a:tr>
              <a:tr h="655320">
                <a:tc>
                  <a:txBody>
                    <a:bodyPr/>
                    <a:lstStyle/>
                    <a:p>
                      <a:pPr>
                        <a:defRPr sz="850" b="1">
                          <a:solidFill>
                            <a:srgbClr val="0F172A"/>
                          </a:solidFill>
                        </a:defRPr>
                      </a:pPr>
                      <a:r>
                        <a:t>Image Network Failures</a:t>
                      </a:r>
                    </a:p>
                  </a:txBody>
                  <a:tcPr>
                    <a:solidFill>
                      <a:srgbClr val="F1F5F9"/>
                    </a:solidFill>
                  </a:tcPr>
                </a:tc>
                <a:tc>
                  <a:txBody>
                    <a:bodyPr/>
                    <a:lstStyle/>
                    <a:p>
                      <a:pPr>
                        <a:defRPr sz="850">
                          <a:solidFill>
                            <a:srgbClr val="0F172A"/>
                          </a:solidFill>
                        </a:defRPr>
                      </a:pPr>
                      <a:r>
                        <a:t>Network latency or broken URL caused broken image icon</a:t>
                      </a:r>
                    </a:p>
                  </a:txBody>
                  <a:tcPr>
                    <a:solidFill>
                      <a:srgbClr val="F1F5F9"/>
                    </a:solidFill>
                  </a:tcPr>
                </a:tc>
                <a:tc>
                  <a:txBody>
                    <a:bodyPr/>
                    <a:lstStyle/>
                    <a:p>
                      <a:pPr>
                        <a:defRPr sz="850">
                          <a:solidFill>
                            <a:srgbClr val="0F172A"/>
                          </a:solidFill>
                        </a:defRPr>
                      </a:pPr>
                      <a:r>
                        <a:t>Added inline `onError` SVG fallback handlers</a:t>
                      </a:r>
                    </a:p>
                  </a:txBody>
                  <a:tcPr>
                    <a:solidFill>
                      <a:srgbClr val="F1F5F9"/>
                    </a:solidFill>
                  </a:tcPr>
                </a:tc>
                <a:tc>
                  <a:txBody>
                    <a:bodyPr/>
                    <a:lstStyle/>
                    <a:p>
                      <a:pPr>
                        <a:defRPr sz="850">
                          <a:solidFill>
                            <a:srgbClr val="0F172A"/>
                          </a:solidFill>
                        </a:defRPr>
                      </a:pPr>
                      <a:r>
                        <a:t>RESOLVED [FAILSAFE]</a:t>
                      </a:r>
                    </a:p>
                  </a:txBody>
                  <a:tcPr>
                    <a:solidFill>
                      <a:srgbClr val="F1F5F9"/>
                    </a:solidFill>
                  </a:tcPr>
                </a:tc>
              </a:tr>
              <a:tr h="655320">
                <a:tc>
                  <a:txBody>
                    <a:bodyPr/>
                    <a:lstStyle/>
                    <a:p>
                      <a:pPr>
                        <a:defRPr sz="850" b="1">
                          <a:solidFill>
                            <a:srgbClr val="0F172A"/>
                          </a:solidFill>
                        </a:defRPr>
                      </a:pPr>
                      <a:r>
                        <a:t>Automated Test Suites</a:t>
                      </a:r>
                    </a:p>
                  </a:txBody>
                  <a:tcPr>
                    <a:solidFill>
                      <a:srgbClr val="FFFFFF"/>
                    </a:solidFill>
                  </a:tcPr>
                </a:tc>
                <a:tc>
                  <a:txBody>
                    <a:bodyPr/>
                    <a:lstStyle/>
                    <a:p>
                      <a:pPr>
                        <a:defRPr sz="850">
                          <a:solidFill>
                            <a:srgbClr val="0F172A"/>
                          </a:solidFill>
                        </a:defRPr>
                      </a:pPr>
                      <a:r>
                        <a:t>Regression risks across AuthContext, API, and RBAC helpers</a:t>
                      </a:r>
                    </a:p>
                  </a:txBody>
                  <a:tcPr>
                    <a:solidFill>
                      <a:srgbClr val="FFFFFF"/>
                    </a:solidFill>
                  </a:tcPr>
                </a:tc>
                <a:tc>
                  <a:txBody>
                    <a:bodyPr/>
                    <a:lstStyle/>
                    <a:p>
                      <a:pPr>
                        <a:defRPr sz="850">
                          <a:solidFill>
                            <a:srgbClr val="0F172A"/>
                          </a:solidFill>
                        </a:defRPr>
                      </a:pPr>
                      <a:r>
                        <a:t>Automated Jest unit test suite: 17/17 tests passing</a:t>
                      </a:r>
                    </a:p>
                  </a:txBody>
                  <a:tcPr>
                    <a:solidFill>
                      <a:srgbClr val="FFFFFF"/>
                    </a:solidFill>
                  </a:tcPr>
                </a:tc>
                <a:tc>
                  <a:txBody>
                    <a:bodyPr/>
                    <a:lstStyle/>
                    <a:p>
                      <a:pPr>
                        <a:defRPr sz="850">
                          <a:solidFill>
                            <a:srgbClr val="0F172A"/>
                          </a:solidFill>
                        </a:defRPr>
                      </a:pPr>
                      <a:r>
                        <a:t>17 / 17 PASSED [OK]</a:t>
                      </a:r>
                    </a:p>
                  </a:txBody>
                  <a:tcPr>
                    <a:solidFill>
                      <a:srgbClr val="FFFFFF"/>
                    </a:solidFill>
                  </a:tcPr>
                </a:tc>
              </a:tr>
            </a:tbl>
          </a:graphicData>
        </a:graphic>
      </p:graphicFrame>
      <p:sp>
        <p:nvSpPr>
          <p:cNvPr id="9" name="Rounded Rectangle 8"/>
          <p:cNvSpPr/>
          <p:nvPr/>
        </p:nvSpPr>
        <p:spPr>
          <a:xfrm>
            <a:off x="731520" y="5440680"/>
            <a:ext cx="2377440"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5495544"/>
            <a:ext cx="2231136" cy="758952"/>
          </a:xfrm>
          <a:prstGeom prst="rect">
            <a:avLst/>
          </a:prstGeom>
          <a:noFill/>
        </p:spPr>
        <p:txBody>
          <a:bodyPr wrap="square">
            <a:spAutoFit/>
          </a:bodyPr>
          <a:lstStyle/>
          <a:p>
            <a:pPr algn="ctr">
              <a:defRPr sz="2200" b="1">
                <a:solidFill>
                  <a:srgbClr val="10B981"/>
                </a:solidFill>
              </a:defRPr>
            </a:pPr>
            <a:r>
              <a:t>17 / 17</a:t>
            </a:r>
          </a:p>
          <a:p>
            <a:pPr algn="ctr">
              <a:defRPr sz="950" b="1">
                <a:solidFill>
                  <a:srgbClr val="0B1F5E"/>
                </a:solidFill>
              </a:defRPr>
            </a:pPr>
            <a:r>
              <a:t>Automated Tests</a:t>
            </a:r>
          </a:p>
          <a:p>
            <a:pPr algn="ctr">
              <a:defRPr sz="800">
                <a:solidFill>
                  <a:srgbClr val="64748B"/>
                </a:solidFill>
              </a:defRPr>
            </a:pPr>
            <a:r>
              <a:t>100% Pass Rate</a:t>
            </a:r>
          </a:p>
        </p:txBody>
      </p:sp>
      <p:sp>
        <p:nvSpPr>
          <p:cNvPr id="11" name="Rounded Rectangle 10"/>
          <p:cNvSpPr/>
          <p:nvPr/>
        </p:nvSpPr>
        <p:spPr>
          <a:xfrm>
            <a:off x="3474720" y="5440680"/>
            <a:ext cx="2377440"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5495544"/>
            <a:ext cx="2231136" cy="758952"/>
          </a:xfrm>
          <a:prstGeom prst="rect">
            <a:avLst/>
          </a:prstGeom>
          <a:noFill/>
        </p:spPr>
        <p:txBody>
          <a:bodyPr wrap="square">
            <a:spAutoFit/>
          </a:bodyPr>
          <a:lstStyle/>
          <a:p>
            <a:pPr algn="ctr">
              <a:defRPr sz="2200" b="1">
                <a:solidFill>
                  <a:srgbClr val="2563EB"/>
                </a:solidFill>
              </a:defRPr>
            </a:pPr>
            <a:r>
              <a:t>0</a:t>
            </a:r>
          </a:p>
          <a:p>
            <a:pPr algn="ctr">
              <a:defRPr sz="950" b="1">
                <a:solidFill>
                  <a:srgbClr val="0B1F5E"/>
                </a:solidFill>
              </a:defRPr>
            </a:pPr>
            <a:r>
              <a:t>Compile Warnings</a:t>
            </a:r>
          </a:p>
          <a:p>
            <a:pPr algn="ctr">
              <a:defRPr sz="800">
                <a:solidFill>
                  <a:srgbClr val="64748B"/>
                </a:solidFill>
              </a:defRPr>
            </a:pPr>
            <a:r>
              <a:t>Zero Lint / Build Issues</a:t>
            </a:r>
          </a:p>
        </p:txBody>
      </p:sp>
      <p:sp>
        <p:nvSpPr>
          <p:cNvPr id="13" name="Rounded Rectangle 12"/>
          <p:cNvSpPr/>
          <p:nvPr/>
        </p:nvSpPr>
        <p:spPr>
          <a:xfrm>
            <a:off x="6217920" y="5440680"/>
            <a:ext cx="2377440" cy="868680"/>
          </a:xfrm>
          <a:prstGeom prst="roundRect">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91072" y="5495544"/>
            <a:ext cx="2231136" cy="758952"/>
          </a:xfrm>
          <a:prstGeom prst="rect">
            <a:avLst/>
          </a:prstGeom>
          <a:noFill/>
        </p:spPr>
        <p:txBody>
          <a:bodyPr wrap="square">
            <a:spAutoFit/>
          </a:bodyPr>
          <a:lstStyle/>
          <a:p>
            <a:pPr algn="ctr">
              <a:defRPr sz="2200" b="1">
                <a:solidFill>
                  <a:srgbClr val="38BDF8"/>
                </a:solidFill>
              </a:defRPr>
            </a:pPr>
            <a:r>
              <a:t>0</a:t>
            </a:r>
          </a:p>
          <a:p>
            <a:pPr algn="ctr">
              <a:defRPr sz="950" b="1">
                <a:solidFill>
                  <a:srgbClr val="0B1F5E"/>
                </a:solidFill>
              </a:defRPr>
            </a:pPr>
            <a:r>
              <a:t>Critical Defects</a:t>
            </a:r>
          </a:p>
          <a:p>
            <a:pPr algn="ctr">
              <a:defRPr sz="800">
                <a:solidFill>
                  <a:srgbClr val="64748B"/>
                </a:solidFill>
              </a:defRPr>
            </a:pPr>
            <a:r>
              <a:t>Defect Log Closed</a:t>
            </a:r>
          </a:p>
        </p:txBody>
      </p:sp>
      <p:sp>
        <p:nvSpPr>
          <p:cNvPr id="15" name="Rounded Rectangle 14"/>
          <p:cNvSpPr/>
          <p:nvPr/>
        </p:nvSpPr>
        <p:spPr>
          <a:xfrm>
            <a:off x="8961120" y="5440680"/>
            <a:ext cx="2468880" cy="868680"/>
          </a:xfrm>
          <a:prstGeom prst="roundRect">
            <a:avLst/>
          </a:prstGeom>
          <a:solidFill>
            <a:srgbClr val="FFFFFF"/>
          </a:solidFill>
          <a:ln w="19050">
            <a:solidFill>
              <a:srgbClr val="0B1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034272" y="5495544"/>
            <a:ext cx="2322576" cy="758952"/>
          </a:xfrm>
          <a:prstGeom prst="rect">
            <a:avLst/>
          </a:prstGeom>
          <a:noFill/>
        </p:spPr>
        <p:txBody>
          <a:bodyPr wrap="square">
            <a:spAutoFit/>
          </a:bodyPr>
          <a:lstStyle/>
          <a:p>
            <a:pPr algn="ctr">
              <a:defRPr sz="2200" b="1">
                <a:solidFill>
                  <a:srgbClr val="0B1F5E"/>
                </a:solidFill>
              </a:defRPr>
            </a:pPr>
            <a:r>
              <a:t>200 OK</a:t>
            </a:r>
          </a:p>
          <a:p>
            <a:pPr algn="ctr">
              <a:defRPr sz="950" b="1">
                <a:solidFill>
                  <a:srgbClr val="0B1F5E"/>
                </a:solidFill>
              </a:defRPr>
            </a:pPr>
            <a:r>
              <a:t>All Public Assets</a:t>
            </a:r>
          </a:p>
          <a:p>
            <a:pPr algn="ctr">
              <a:defRPr sz="800">
                <a:solidFill>
                  <a:srgbClr val="64748B"/>
                </a:solidFill>
              </a:defRPr>
            </a:pPr>
            <a:r>
              <a:t>Verified Photography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DEVOPS &amp; DEPLOYMENT</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DevOps Automation &amp; Self-Healing Client Setup</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Balaji Vamshi Pasala</a:t>
            </a:r>
          </a:p>
          <a:p>
            <a:pPr>
              <a:defRPr sz="850">
                <a:solidFill>
                  <a:srgbClr val="CBD5E1"/>
                </a:solidFill>
              </a:defRPr>
            </a:pPr>
            <a:r>
              <a:t>DevOps &amp; Build Engineer (13:00 - 15:30)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pic>
        <p:nvPicPr>
          <p:cNvPr id="8" name="Picture 7" descr="diagram_setup_flow.png"/>
          <p:cNvPicPr>
            <a:picLocks noChangeAspect="1"/>
          </p:cNvPicPr>
          <p:nvPr/>
        </p:nvPicPr>
        <p:blipFill>
          <a:blip r:embed="rId3"/>
          <a:stretch>
            <a:fillRect/>
          </a:stretch>
        </p:blipFill>
        <p:spPr>
          <a:xfrm>
            <a:off x="731520" y="1234440"/>
            <a:ext cx="7498079" cy="4023360"/>
          </a:xfrm>
          <a:prstGeom prst="rect">
            <a:avLst/>
          </a:prstGeom>
        </p:spPr>
      </p:pic>
      <p:sp>
        <p:nvSpPr>
          <p:cNvPr id="9" name="Rounded Rectangle 8"/>
          <p:cNvSpPr/>
          <p:nvPr/>
        </p:nvSpPr>
        <p:spPr>
          <a:xfrm>
            <a:off x="8412480" y="1234440"/>
            <a:ext cx="3017520" cy="40233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8412480" y="1234440"/>
            <a:ext cx="301752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577072" y="1325880"/>
            <a:ext cx="2688336" cy="3840480"/>
          </a:xfrm>
          <a:prstGeom prst="rect">
            <a:avLst/>
          </a:prstGeom>
          <a:noFill/>
        </p:spPr>
        <p:txBody>
          <a:bodyPr wrap="square">
            <a:spAutoFit/>
          </a:bodyPr>
          <a:lstStyle/>
          <a:p>
            <a:pPr>
              <a:spcAft>
                <a:spcPts val="700"/>
              </a:spcAft>
              <a:defRPr sz="1300" b="1">
                <a:solidFill>
                  <a:srgbClr val="0B1F5E"/>
                </a:solidFill>
              </a:defRPr>
            </a:pPr>
            <a:r>
              <a:t>DevOps Highlights</a:t>
            </a:r>
          </a:p>
          <a:p>
            <a:pPr>
              <a:spcAft>
                <a:spcPts val="400"/>
              </a:spcAft>
              <a:defRPr sz="1000">
                <a:solidFill>
                  <a:srgbClr val="0F172A"/>
                </a:solidFill>
              </a:defRPr>
            </a:pPr>
            <a:r>
              <a:t>• Self-Healing PHP: Searches 9 Windows paths; uncomments missing php.ini extensions automatically.</a:t>
            </a:r>
          </a:p>
          <a:p>
            <a:pPr>
              <a:spcAft>
                <a:spcPts val="400"/>
              </a:spcAft>
              <a:defRPr sz="1000">
                <a:solidFill>
                  <a:srgbClr val="0F172A"/>
                </a:solidFill>
              </a:defRPr>
            </a:pPr>
            <a:r>
              <a:t>• Dual Database Fallback: Probes MySQL 3306; auto-activates SQLite if MySQL is absent.</a:t>
            </a:r>
          </a:p>
          <a:p>
            <a:pPr>
              <a:spcAft>
                <a:spcPts val="400"/>
              </a:spcAft>
              <a:defRPr sz="1000">
                <a:solidFill>
                  <a:srgbClr val="0F172A"/>
                </a:solidFill>
              </a:defRPr>
            </a:pPr>
            <a:r>
              <a:t>• Zero-Bloat Packaging: Strips 430MB+ node_modules &amp; vendor; delivers 7.46 MB ZIP.</a:t>
            </a:r>
          </a:p>
          <a:p>
            <a:pPr>
              <a:spcAft>
                <a:spcPts val="400"/>
              </a:spcAft>
              <a:defRPr sz="1000">
                <a:solidFill>
                  <a:srgbClr val="0F172A"/>
                </a:solidFill>
              </a:defRPr>
            </a:pPr>
            <a:r>
              <a:t>• Git Provenance: Preserves 821 git objects with full team contribution history.</a:t>
            </a:r>
          </a:p>
          <a:p>
            <a:pPr>
              <a:spcAft>
                <a:spcPts val="400"/>
              </a:spcAft>
              <a:defRPr sz="1000">
                <a:solidFill>
                  <a:srgbClr val="0F172A"/>
                </a:solidFill>
              </a:defRPr>
            </a:pPr>
            <a:r>
              <a:t>• Automated Launch: Starts Laravel 8000 + React 3000 and auto-opens browser.</a:t>
            </a:r>
          </a:p>
        </p:txBody>
      </p:sp>
      <p:sp>
        <p:nvSpPr>
          <p:cNvPr id="12" name="Rounded Rectangle 11"/>
          <p:cNvSpPr/>
          <p:nvPr/>
        </p:nvSpPr>
        <p:spPr>
          <a:xfrm>
            <a:off x="731520" y="5440680"/>
            <a:ext cx="2377440" cy="868680"/>
          </a:xfrm>
          <a:prstGeom prst="roundRect">
            <a:avLst/>
          </a:prstGeom>
          <a:solidFill>
            <a:srgbClr val="FFFFFF"/>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495544"/>
            <a:ext cx="2231136" cy="758952"/>
          </a:xfrm>
          <a:prstGeom prst="rect">
            <a:avLst/>
          </a:prstGeom>
          <a:noFill/>
        </p:spPr>
        <p:txBody>
          <a:bodyPr wrap="square">
            <a:spAutoFit/>
          </a:bodyPr>
          <a:lstStyle/>
          <a:p>
            <a:pPr algn="ctr">
              <a:defRPr sz="2200" b="1">
                <a:solidFill>
                  <a:srgbClr val="10B981"/>
                </a:solidFill>
              </a:defRPr>
            </a:pPr>
            <a:r>
              <a:t>7.46 MB</a:t>
            </a:r>
          </a:p>
          <a:p>
            <a:pPr algn="ctr">
              <a:defRPr sz="950" b="1">
                <a:solidFill>
                  <a:srgbClr val="0B1F5E"/>
                </a:solidFill>
              </a:defRPr>
            </a:pPr>
            <a:r>
              <a:t>Clean Archive Size</a:t>
            </a:r>
          </a:p>
          <a:p>
            <a:pPr algn="ctr">
              <a:defRPr sz="800">
                <a:solidFill>
                  <a:srgbClr val="64748B"/>
                </a:solidFill>
              </a:defRPr>
            </a:pPr>
            <a:r>
              <a:t>Zero Bloat, High Portability</a:t>
            </a:r>
          </a:p>
        </p:txBody>
      </p:sp>
      <p:sp>
        <p:nvSpPr>
          <p:cNvPr id="14" name="Rounded Rectangle 13"/>
          <p:cNvSpPr/>
          <p:nvPr/>
        </p:nvSpPr>
        <p:spPr>
          <a:xfrm>
            <a:off x="3474720" y="5440680"/>
            <a:ext cx="2377440" cy="868680"/>
          </a:xfrm>
          <a:prstGeom prst="roundRect">
            <a:avLst/>
          </a:prstGeom>
          <a:solidFill>
            <a:srgbClr val="FFFFFF"/>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547872" y="5495544"/>
            <a:ext cx="2231136" cy="758952"/>
          </a:xfrm>
          <a:prstGeom prst="rect">
            <a:avLst/>
          </a:prstGeom>
          <a:noFill/>
        </p:spPr>
        <p:txBody>
          <a:bodyPr wrap="square">
            <a:spAutoFit/>
          </a:bodyPr>
          <a:lstStyle/>
          <a:p>
            <a:pPr algn="ctr">
              <a:defRPr sz="2200" b="1">
                <a:solidFill>
                  <a:srgbClr val="2563EB"/>
                </a:solidFill>
              </a:defRPr>
            </a:pPr>
            <a:r>
              <a:t>Dual Engine</a:t>
            </a:r>
          </a:p>
          <a:p>
            <a:pPr algn="ctr">
              <a:defRPr sz="950" b="1">
                <a:solidFill>
                  <a:srgbClr val="0B1F5E"/>
                </a:solidFill>
              </a:defRPr>
            </a:pPr>
            <a:r>
              <a:t>Database Resilience</a:t>
            </a:r>
          </a:p>
          <a:p>
            <a:pPr algn="ctr">
              <a:defRPr sz="800">
                <a:solidFill>
                  <a:srgbClr val="64748B"/>
                </a:solidFill>
              </a:defRPr>
            </a:pPr>
            <a:r>
              <a:t>MySQL 3306 + SQLite Fallback</a:t>
            </a:r>
          </a:p>
        </p:txBody>
      </p:sp>
      <p:sp>
        <p:nvSpPr>
          <p:cNvPr id="16" name="Rounded Rectangle 15"/>
          <p:cNvSpPr/>
          <p:nvPr/>
        </p:nvSpPr>
        <p:spPr>
          <a:xfrm>
            <a:off x="6217920" y="5440680"/>
            <a:ext cx="2377440" cy="868680"/>
          </a:xfrm>
          <a:prstGeom prst="roundRect">
            <a:avLst/>
          </a:prstGeom>
          <a:solidFill>
            <a:srgbClr val="FFFFFF"/>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91072" y="5495544"/>
            <a:ext cx="2231136" cy="758952"/>
          </a:xfrm>
          <a:prstGeom prst="rect">
            <a:avLst/>
          </a:prstGeom>
          <a:noFill/>
        </p:spPr>
        <p:txBody>
          <a:bodyPr wrap="square">
            <a:spAutoFit/>
          </a:bodyPr>
          <a:lstStyle/>
          <a:p>
            <a:pPr algn="ctr">
              <a:defRPr sz="2200" b="1">
                <a:solidFill>
                  <a:srgbClr val="38BDF8"/>
                </a:solidFill>
              </a:defRPr>
            </a:pPr>
            <a:r>
              <a:t>821 Objects</a:t>
            </a:r>
          </a:p>
          <a:p>
            <a:pPr algn="ctr">
              <a:defRPr sz="950" b="1">
                <a:solidFill>
                  <a:srgbClr val="0B1F5E"/>
                </a:solidFill>
              </a:defRPr>
            </a:pPr>
            <a:r>
              <a:t>Git Commit History</a:t>
            </a:r>
          </a:p>
          <a:p>
            <a:pPr algn="ctr">
              <a:defRPr sz="800">
                <a:solidFill>
                  <a:srgbClr val="64748B"/>
                </a:solidFill>
              </a:defRPr>
            </a:pPr>
            <a:r>
              <a:t>Full Team Provenance Preserved</a:t>
            </a:r>
          </a:p>
        </p:txBody>
      </p:sp>
      <p:sp>
        <p:nvSpPr>
          <p:cNvPr id="18" name="Rounded Rectangle 17"/>
          <p:cNvSpPr/>
          <p:nvPr/>
        </p:nvSpPr>
        <p:spPr>
          <a:xfrm>
            <a:off x="8961120" y="5440680"/>
            <a:ext cx="2468880" cy="868680"/>
          </a:xfrm>
          <a:prstGeom prst="roundRect">
            <a:avLst/>
          </a:prstGeom>
          <a:solidFill>
            <a:srgbClr val="FFFFFF"/>
          </a:solidFill>
          <a:ln w="19050">
            <a:solidFill>
              <a:srgbClr val="0B1F5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34272" y="5495544"/>
            <a:ext cx="2322576" cy="758952"/>
          </a:xfrm>
          <a:prstGeom prst="rect">
            <a:avLst/>
          </a:prstGeom>
          <a:noFill/>
        </p:spPr>
        <p:txBody>
          <a:bodyPr wrap="square">
            <a:spAutoFit/>
          </a:bodyPr>
          <a:lstStyle/>
          <a:p>
            <a:pPr algn="ctr">
              <a:defRPr sz="2200" b="1">
                <a:solidFill>
                  <a:srgbClr val="0B1F5E"/>
                </a:solidFill>
              </a:defRPr>
            </a:pPr>
            <a:r>
              <a:t>&lt; 15 Sec</a:t>
            </a:r>
          </a:p>
          <a:p>
            <a:pPr algn="ctr">
              <a:defRPr sz="950" b="1">
                <a:solidFill>
                  <a:srgbClr val="0B1F5E"/>
                </a:solidFill>
              </a:defRPr>
            </a:pPr>
            <a:r>
              <a:t>Automated Setup Time</a:t>
            </a:r>
          </a:p>
          <a:p>
            <a:pPr algn="ctr">
              <a:defRPr sz="800">
                <a:solidFill>
                  <a:srgbClr val="64748B"/>
                </a:solidFill>
              </a:defRPr>
            </a:pPr>
            <a:r>
              <a:t>Hands-Free setup.bat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DEMONSTRATION WALKTHROUGH</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Demonstration Flow &amp; Core System Walkthrough</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Reethika Katkuri</a:t>
            </a:r>
          </a:p>
          <a:p>
            <a:pPr>
              <a:defRPr sz="850">
                <a:solidFill>
                  <a:srgbClr val="CBD5E1"/>
                </a:solidFill>
              </a:defRPr>
            </a:pPr>
            <a:r>
              <a:t>Technical Documentation Lead (15:30 - 17:30)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graphicFrame>
        <p:nvGraphicFramePr>
          <p:cNvPr id="8" name="Table 7"/>
          <p:cNvGraphicFramePr>
            <a:graphicFrameLocks noGrp="1"/>
          </p:cNvGraphicFramePr>
          <p:nvPr/>
        </p:nvGraphicFramePr>
        <p:xfrm>
          <a:off x="731520" y="1280160"/>
          <a:ext cx="10698480" cy="4937760"/>
        </p:xfrm>
        <a:graphic>
          <a:graphicData uri="http://schemas.openxmlformats.org/drawingml/2006/table">
            <a:tbl>
              <a:tblPr firstRow="1" bandRow="1">
                <a:tableStyleId>{5C22544A-7EE6-4342-B048-85BDC9FD1C3A}</a:tableStyleId>
              </a:tblPr>
              <a:tblGrid>
                <a:gridCol w="914400"/>
                <a:gridCol w="2560320"/>
                <a:gridCol w="4114800"/>
                <a:gridCol w="3108960"/>
              </a:tblGrid>
              <a:tr h="617220">
                <a:tc>
                  <a:txBody>
                    <a:bodyPr/>
                    <a:lstStyle/>
                    <a:p>
                      <a:pPr algn="ctr">
                        <a:defRPr b="1" sz="950">
                          <a:solidFill>
                            <a:srgbClr val="FFFFFF"/>
                          </a:solidFill>
                        </a:defRPr>
                      </a:pPr>
                      <a:r>
                        <a:t>Step</a:t>
                      </a:r>
                    </a:p>
                  </a:txBody>
                  <a:tcPr>
                    <a:solidFill>
                      <a:srgbClr val="0B1F5E"/>
                    </a:solidFill>
                  </a:tcPr>
                </a:tc>
                <a:tc>
                  <a:txBody>
                    <a:bodyPr/>
                    <a:lstStyle/>
                    <a:p>
                      <a:pPr algn="ctr">
                        <a:defRPr b="1" sz="950">
                          <a:solidFill>
                            <a:srgbClr val="FFFFFF"/>
                          </a:solidFill>
                        </a:defRPr>
                      </a:pPr>
                      <a:r>
                        <a:t>User Persona &amp; Role</a:t>
                      </a:r>
                    </a:p>
                  </a:txBody>
                  <a:tcPr>
                    <a:solidFill>
                      <a:srgbClr val="0B1F5E"/>
                    </a:solidFill>
                  </a:tcPr>
                </a:tc>
                <a:tc>
                  <a:txBody>
                    <a:bodyPr/>
                    <a:lstStyle/>
                    <a:p>
                      <a:pPr algn="ctr">
                        <a:defRPr b="1" sz="950">
                          <a:solidFill>
                            <a:srgbClr val="FFFFFF"/>
                          </a:solidFill>
                        </a:defRPr>
                      </a:pPr>
                      <a:r>
                        <a:t>Action &amp; Navigation Flow</a:t>
                      </a:r>
                    </a:p>
                  </a:txBody>
                  <a:tcPr>
                    <a:solidFill>
                      <a:srgbClr val="0B1F5E"/>
                    </a:solidFill>
                  </a:tcPr>
                </a:tc>
                <a:tc>
                  <a:txBody>
                    <a:bodyPr/>
                    <a:lstStyle/>
                    <a:p>
                      <a:pPr algn="ctr">
                        <a:defRPr b="1" sz="950">
                          <a:solidFill>
                            <a:srgbClr val="FFFFFF"/>
                          </a:solidFill>
                        </a:defRPr>
                      </a:pPr>
                      <a:r>
                        <a:t>Expected Verifiable Outcome</a:t>
                      </a:r>
                    </a:p>
                  </a:txBody>
                  <a:tcPr>
                    <a:solidFill>
                      <a:srgbClr val="0B1F5E"/>
                    </a:solidFill>
                  </a:tcPr>
                </a:tc>
              </a:tr>
              <a:tr h="617220">
                <a:tc>
                  <a:txBody>
                    <a:bodyPr/>
                    <a:lstStyle/>
                    <a:p>
                      <a:pPr>
                        <a:defRPr sz="850" b="1">
                          <a:solidFill>
                            <a:srgbClr val="0F172A"/>
                          </a:solidFill>
                        </a:defRPr>
                      </a:pPr>
                      <a:r>
                        <a:t>Step 1</a:t>
                      </a:r>
                    </a:p>
                  </a:txBody>
                  <a:tcPr>
                    <a:solidFill>
                      <a:srgbClr val="FFFFFF"/>
                    </a:solidFill>
                  </a:tcPr>
                </a:tc>
                <a:tc>
                  <a:txBody>
                    <a:bodyPr/>
                    <a:lstStyle/>
                    <a:p>
                      <a:pPr>
                        <a:defRPr sz="850">
                          <a:solidFill>
                            <a:srgbClr val="0F172A"/>
                          </a:solidFill>
                        </a:defRPr>
                      </a:pPr>
                      <a:r>
                        <a:t>Public Visitor / Evaluator</a:t>
                      </a:r>
                    </a:p>
                  </a:txBody>
                  <a:tcPr>
                    <a:solidFill>
                      <a:srgbClr val="FFFFFF"/>
                    </a:solidFill>
                  </a:tcPr>
                </a:tc>
                <a:tc>
                  <a:txBody>
                    <a:bodyPr/>
                    <a:lstStyle/>
                    <a:p>
                      <a:pPr>
                        <a:defRPr sz="850">
                          <a:solidFill>
                            <a:srgbClr val="0F172A"/>
                          </a:solidFill>
                        </a:defRPr>
                      </a:pPr>
                      <a:r>
                        <a:t>Explore landing page: 1600px hero, agency strip, branch catalog</a:t>
                      </a:r>
                    </a:p>
                  </a:txBody>
                  <a:tcPr>
                    <a:solidFill>
                      <a:srgbClr val="FFFFFF"/>
                    </a:solidFill>
                  </a:tcPr>
                </a:tc>
                <a:tc>
                  <a:txBody>
                    <a:bodyPr/>
                    <a:lstStyle/>
                    <a:p>
                      <a:pPr>
                        <a:defRPr sz="850">
                          <a:solidFill>
                            <a:srgbClr val="0F172A"/>
                          </a:solidFill>
                        </a:defRPr>
                      </a:pPr>
                      <a:r>
                        <a:t>Responsive layout, high-res photography loads cleanly</a:t>
                      </a:r>
                    </a:p>
                  </a:txBody>
                  <a:tcPr>
                    <a:solidFill>
                      <a:srgbClr val="FFFFFF"/>
                    </a:solidFill>
                  </a:tcPr>
                </a:tc>
              </a:tr>
              <a:tr h="617220">
                <a:tc>
                  <a:txBody>
                    <a:bodyPr/>
                    <a:lstStyle/>
                    <a:p>
                      <a:pPr>
                        <a:defRPr sz="850" b="1">
                          <a:solidFill>
                            <a:srgbClr val="0F172A"/>
                          </a:solidFill>
                        </a:defRPr>
                      </a:pPr>
                      <a:r>
                        <a:t>Step 2</a:t>
                      </a:r>
                    </a:p>
                  </a:txBody>
                  <a:tcPr>
                    <a:solidFill>
                      <a:srgbClr val="F1F5F9"/>
                    </a:solidFill>
                  </a:tcPr>
                </a:tc>
                <a:tc>
                  <a:txBody>
                    <a:bodyPr/>
                    <a:lstStyle/>
                    <a:p>
                      <a:pPr>
                        <a:defRPr sz="850">
                          <a:solidFill>
                            <a:srgbClr val="0F172A"/>
                          </a:solidFill>
                        </a:defRPr>
                      </a:pPr>
                      <a:r>
                        <a:t>Super-Admin (`admin@dost.gov.ph`)</a:t>
                      </a:r>
                    </a:p>
                  </a:txBody>
                  <a:tcPr>
                    <a:solidFill>
                      <a:srgbClr val="F1F5F9"/>
                    </a:solidFill>
                  </a:tcPr>
                </a:tc>
                <a:tc>
                  <a:txBody>
                    <a:bodyPr/>
                    <a:lstStyle/>
                    <a:p>
                      <a:pPr>
                        <a:defRPr sz="850">
                          <a:solidFill>
                            <a:srgbClr val="0F172A"/>
                          </a:solidFill>
                        </a:defRPr>
                      </a:pPr>
                      <a:r>
                        <a:t>Log in to portal; use permanent 1-click header switcher pill</a:t>
                      </a:r>
                    </a:p>
                  </a:txBody>
                  <a:tcPr>
                    <a:solidFill>
                      <a:srgbClr val="F1F5F9"/>
                    </a:solidFill>
                  </a:tcPr>
                </a:tc>
                <a:tc>
                  <a:txBody>
                    <a:bodyPr/>
                    <a:lstStyle/>
                    <a:p>
                      <a:pPr>
                        <a:defRPr sz="850">
                          <a:solidFill>
                            <a:srgbClr val="0F172A"/>
                          </a:solidFill>
                        </a:defRPr>
                      </a:pPr>
                      <a:r>
                        <a:t>Instantly toggles between Functional HR and Technical IT</a:t>
                      </a:r>
                    </a:p>
                  </a:txBody>
                  <a:tcPr>
                    <a:solidFill>
                      <a:srgbClr val="F1F5F9"/>
                    </a:solidFill>
                  </a:tcPr>
                </a:tc>
              </a:tr>
              <a:tr h="617220">
                <a:tc>
                  <a:txBody>
                    <a:bodyPr/>
                    <a:lstStyle/>
                    <a:p>
                      <a:pPr>
                        <a:defRPr sz="850" b="1">
                          <a:solidFill>
                            <a:srgbClr val="0F172A"/>
                          </a:solidFill>
                        </a:defRPr>
                      </a:pPr>
                      <a:r>
                        <a:t>Step 3</a:t>
                      </a:r>
                    </a:p>
                  </a:txBody>
                  <a:tcPr>
                    <a:solidFill>
                      <a:srgbClr val="FFFFFF"/>
                    </a:solidFill>
                  </a:tcPr>
                </a:tc>
                <a:tc>
                  <a:txBody>
                    <a:bodyPr/>
                    <a:lstStyle/>
                    <a:p>
                      <a:pPr>
                        <a:defRPr sz="850">
                          <a:solidFill>
                            <a:srgbClr val="0F172A"/>
                          </a:solidFill>
                        </a:defRPr>
                      </a:pPr>
                      <a:r>
                        <a:t>Functional Admin (HR)</a:t>
                      </a:r>
                    </a:p>
                  </a:txBody>
                  <a:tcPr>
                    <a:solidFill>
                      <a:srgbClr val="FFFFFF"/>
                    </a:solidFill>
                  </a:tcPr>
                </a:tc>
                <a:tc>
                  <a:txBody>
                    <a:bodyPr/>
                    <a:lstStyle/>
                    <a:p>
                      <a:pPr>
                        <a:defRPr sz="850">
                          <a:solidFill>
                            <a:srgbClr val="0F172A"/>
                          </a:solidFill>
                        </a:defRPr>
                      </a:pPr>
                      <a:r>
                        <a:t>Navigate to Course Studio; create new course with video modules</a:t>
                      </a:r>
                    </a:p>
                  </a:txBody>
                  <a:tcPr>
                    <a:solidFill>
                      <a:srgbClr val="FFFFFF"/>
                    </a:solidFill>
                  </a:tcPr>
                </a:tc>
                <a:tc>
                  <a:txBody>
                    <a:bodyPr/>
                    <a:lstStyle/>
                    <a:p>
                      <a:pPr>
                        <a:defRPr sz="850">
                          <a:solidFill>
                            <a:srgbClr val="0F172A"/>
                          </a:solidFill>
                        </a:defRPr>
                      </a:pPr>
                      <a:r>
                        <a:t>Course created in database, assigned to branch mentor</a:t>
                      </a:r>
                    </a:p>
                  </a:txBody>
                  <a:tcPr>
                    <a:solidFill>
                      <a:srgbClr val="FFFFFF"/>
                    </a:solidFill>
                  </a:tcPr>
                </a:tc>
              </a:tr>
              <a:tr h="617220">
                <a:tc>
                  <a:txBody>
                    <a:bodyPr/>
                    <a:lstStyle/>
                    <a:p>
                      <a:pPr>
                        <a:defRPr sz="850" b="1">
                          <a:solidFill>
                            <a:srgbClr val="0F172A"/>
                          </a:solidFill>
                        </a:defRPr>
                      </a:pPr>
                      <a:r>
                        <a:t>Step 4</a:t>
                      </a:r>
                    </a:p>
                  </a:txBody>
                  <a:tcPr>
                    <a:solidFill>
                      <a:srgbClr val="F1F5F9"/>
                    </a:solidFill>
                  </a:tcPr>
                </a:tc>
                <a:tc>
                  <a:txBody>
                    <a:bodyPr/>
                    <a:lstStyle/>
                    <a:p>
                      <a:pPr>
                        <a:defRPr sz="850">
                          <a:solidFill>
                            <a:srgbClr val="0F172A"/>
                          </a:solidFill>
                        </a:defRPr>
                      </a:pPr>
                      <a:r>
                        <a:t>Technical Admin (IT)</a:t>
                      </a:r>
                    </a:p>
                  </a:txBody>
                  <a:tcPr>
                    <a:solidFill>
                      <a:srgbClr val="F1F5F9"/>
                    </a:solidFill>
                  </a:tcPr>
                </a:tc>
                <a:tc>
                  <a:txBody>
                    <a:bodyPr/>
                    <a:lstStyle/>
                    <a:p>
                      <a:pPr>
                        <a:defRPr sz="850">
                          <a:solidFill>
                            <a:srgbClr val="0F172A"/>
                          </a:solidFill>
                        </a:defRPr>
                      </a:pPr>
                      <a:r>
                        <a:t>Inspect system health: server uptime, PDO driver, row counters</a:t>
                      </a:r>
                    </a:p>
                  </a:txBody>
                  <a:tcPr>
                    <a:solidFill>
                      <a:srgbClr val="F1F5F9"/>
                    </a:solidFill>
                  </a:tcPr>
                </a:tc>
                <a:tc>
                  <a:txBody>
                    <a:bodyPr/>
                    <a:lstStyle/>
                    <a:p>
                      <a:pPr>
                        <a:defRPr sz="850">
                          <a:solidFill>
                            <a:srgbClr val="0F172A"/>
                          </a:solidFill>
                        </a:defRPr>
                      </a:pPr>
                      <a:r>
                        <a:t>Live telemetry updates across all 11 database entities</a:t>
                      </a:r>
                    </a:p>
                  </a:txBody>
                  <a:tcPr>
                    <a:solidFill>
                      <a:srgbClr val="F1F5F9"/>
                    </a:solidFill>
                  </a:tcPr>
                </a:tc>
              </a:tr>
              <a:tr h="617220">
                <a:tc>
                  <a:txBody>
                    <a:bodyPr/>
                    <a:lstStyle/>
                    <a:p>
                      <a:pPr>
                        <a:defRPr sz="850" b="1">
                          <a:solidFill>
                            <a:srgbClr val="0F172A"/>
                          </a:solidFill>
                        </a:defRPr>
                      </a:pPr>
                      <a:r>
                        <a:t>Step 5</a:t>
                      </a:r>
                    </a:p>
                  </a:txBody>
                  <a:tcPr>
                    <a:solidFill>
                      <a:srgbClr val="FFFFFF"/>
                    </a:solidFill>
                  </a:tcPr>
                </a:tc>
                <a:tc>
                  <a:txBody>
                    <a:bodyPr/>
                    <a:lstStyle/>
                    <a:p>
                      <a:pPr>
                        <a:defRPr sz="850">
                          <a:solidFill>
                            <a:srgbClr val="0F172A"/>
                          </a:solidFill>
                        </a:defRPr>
                      </a:pPr>
                      <a:r>
                        <a:t>New Employee Registration</a:t>
                      </a:r>
                    </a:p>
                  </a:txBody>
                  <a:tcPr>
                    <a:solidFill>
                      <a:srgbClr val="FFFFFF"/>
                    </a:solidFill>
                  </a:tcPr>
                </a:tc>
                <a:tc>
                  <a:txBody>
                    <a:bodyPr/>
                    <a:lstStyle/>
                    <a:p>
                      <a:pPr>
                        <a:defRPr sz="850">
                          <a:solidFill>
                            <a:srgbClr val="0F172A"/>
                          </a:solidFill>
                        </a:defRPr>
                      </a:pPr>
                      <a:r>
                        <a:t>Register as `new.researcher@dost.gov.ph` from public signup</a:t>
                      </a:r>
                    </a:p>
                  </a:txBody>
                  <a:tcPr>
                    <a:solidFill>
                      <a:srgbClr val="FFFFFF"/>
                    </a:solidFill>
                  </a:tcPr>
                </a:tc>
                <a:tc>
                  <a:txBody>
                    <a:bodyPr/>
                    <a:lstStyle/>
                    <a:p>
                      <a:pPr>
                        <a:defRPr sz="850">
                          <a:solidFill>
                            <a:srgbClr val="0F172A"/>
                          </a:solidFill>
                        </a:defRPr>
                      </a:pPr>
                      <a:r>
                        <a:t>Account created in pending state; requires admin verification</a:t>
                      </a:r>
                    </a:p>
                  </a:txBody>
                  <a:tcPr>
                    <a:solidFill>
                      <a:srgbClr val="FFFFFF"/>
                    </a:solidFill>
                  </a:tcPr>
                </a:tc>
              </a:tr>
              <a:tr h="617220">
                <a:tc>
                  <a:txBody>
                    <a:bodyPr/>
                    <a:lstStyle/>
                    <a:p>
                      <a:pPr>
                        <a:defRPr sz="850" b="1">
                          <a:solidFill>
                            <a:srgbClr val="0F172A"/>
                          </a:solidFill>
                        </a:defRPr>
                      </a:pPr>
                      <a:r>
                        <a:t>Step 6</a:t>
                      </a:r>
                    </a:p>
                  </a:txBody>
                  <a:tcPr>
                    <a:solidFill>
                      <a:srgbClr val="F1F5F9"/>
                    </a:solidFill>
                  </a:tcPr>
                </a:tc>
                <a:tc>
                  <a:txBody>
                    <a:bodyPr/>
                    <a:lstStyle/>
                    <a:p>
                      <a:pPr>
                        <a:defRPr sz="850">
                          <a:solidFill>
                            <a:srgbClr val="0F172A"/>
                          </a:solidFill>
                        </a:defRPr>
                      </a:pPr>
                      <a:r>
                        <a:t>Learner Enrollment Flow</a:t>
                      </a:r>
                    </a:p>
                  </a:txBody>
                  <a:tcPr>
                    <a:solidFill>
                      <a:srgbClr val="F1F5F9"/>
                    </a:solidFill>
                  </a:tcPr>
                </a:tc>
                <a:tc>
                  <a:txBody>
                    <a:bodyPr/>
                    <a:lstStyle/>
                    <a:p>
                      <a:pPr>
                        <a:defRPr sz="850">
                          <a:solidFill>
                            <a:srgbClr val="0F172A"/>
                          </a:solidFill>
                        </a:defRPr>
                      </a:pPr>
                      <a:r>
                        <a:t>Log in as `mark.reyes@dost.gov.ph`; request course enrollment</a:t>
                      </a:r>
                    </a:p>
                  </a:txBody>
                  <a:tcPr>
                    <a:solidFill>
                      <a:srgbClr val="F1F5F9"/>
                    </a:solidFill>
                  </a:tcPr>
                </a:tc>
                <a:tc>
                  <a:txBody>
                    <a:bodyPr/>
                    <a:lstStyle/>
                    <a:p>
                      <a:pPr>
                        <a:defRPr sz="850">
                          <a:solidFill>
                            <a:srgbClr val="0F172A"/>
                          </a:solidFill>
                        </a:defRPr>
                      </a:pPr>
                      <a:r>
                        <a:t>Enrollment record transitions from pending to approved by mentor</a:t>
                      </a:r>
                    </a:p>
                  </a:txBody>
                  <a:tcPr>
                    <a:solidFill>
                      <a:srgbClr val="F1F5F9"/>
                    </a:solidFill>
                  </a:tcPr>
                </a:tc>
              </a:tr>
              <a:tr h="617220">
                <a:tc>
                  <a:txBody>
                    <a:bodyPr/>
                    <a:lstStyle/>
                    <a:p>
                      <a:pPr>
                        <a:defRPr sz="850" b="1">
                          <a:solidFill>
                            <a:srgbClr val="0F172A"/>
                          </a:solidFill>
                        </a:defRPr>
                      </a:pPr>
                      <a:r>
                        <a:t>Step 7</a:t>
                      </a:r>
                    </a:p>
                  </a:txBody>
                  <a:tcPr>
                    <a:solidFill>
                      <a:srgbClr val="FFFFFF"/>
                    </a:solidFill>
                  </a:tcPr>
                </a:tc>
                <a:tc>
                  <a:txBody>
                    <a:bodyPr/>
                    <a:lstStyle/>
                    <a:p>
                      <a:pPr>
                        <a:defRPr sz="850">
                          <a:solidFill>
                            <a:srgbClr val="0F172A"/>
                          </a:solidFill>
                        </a:defRPr>
                      </a:pPr>
                      <a:r>
                        <a:t>Quiz &amp; Certification</a:t>
                      </a:r>
                    </a:p>
                  </a:txBody>
                  <a:tcPr>
                    <a:solidFill>
                      <a:srgbClr val="FFFFFF"/>
                    </a:solidFill>
                  </a:tcPr>
                </a:tc>
                <a:tc>
                  <a:txBody>
                    <a:bodyPr/>
                    <a:lstStyle/>
                    <a:p>
                      <a:pPr>
                        <a:defRPr sz="850">
                          <a:solidFill>
                            <a:srgbClr val="0F172A"/>
                          </a:solidFill>
                        </a:defRPr>
                      </a:pPr>
                      <a:r>
                        <a:t>Watch lesson, take interactive quiz (&gt;=50%), generate certificate</a:t>
                      </a:r>
                    </a:p>
                  </a:txBody>
                  <a:tcPr>
                    <a:solidFill>
                      <a:srgbClr val="FFFFFF"/>
                    </a:solidFill>
                  </a:tcPr>
                </a:tc>
                <a:tc>
                  <a:txBody>
                    <a:bodyPr/>
                    <a:lstStyle/>
                    <a:p>
                      <a:pPr>
                        <a:defRPr sz="850">
                          <a:solidFill>
                            <a:srgbClr val="0F172A"/>
                          </a:solidFill>
                        </a:defRPr>
                      </a:pPr>
                      <a:r>
                        <a:t>Digitally authenticated Certificate of Completion with DOST seal</a:t>
                      </a:r>
                    </a:p>
                  </a:txBody>
                  <a:tcPr>
                    <a:solidFill>
                      <a:srgbClr val="FFFF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TECHNICAL PROBLEM SOLVING</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Key Technical Challenges &amp; Engineering Mitigations</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Reethika Katkuri</a:t>
            </a:r>
          </a:p>
          <a:p>
            <a:pPr>
              <a:defRPr sz="850">
                <a:solidFill>
                  <a:srgbClr val="CBD5E1"/>
                </a:solidFill>
              </a:defRPr>
            </a:pPr>
            <a:r>
              <a:t>Technical Documentation Lead (17:30 - 18:30)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graphicFrame>
        <p:nvGraphicFramePr>
          <p:cNvPr id="8" name="Table 7"/>
          <p:cNvGraphicFramePr>
            <a:graphicFrameLocks noGrp="1"/>
          </p:cNvGraphicFramePr>
          <p:nvPr/>
        </p:nvGraphicFramePr>
        <p:xfrm>
          <a:off x="731520" y="1280160"/>
          <a:ext cx="10698480" cy="4937760"/>
        </p:xfrm>
        <a:graphic>
          <a:graphicData uri="http://schemas.openxmlformats.org/drawingml/2006/table">
            <a:tbl>
              <a:tblPr firstRow="1" bandRow="1">
                <a:tableStyleId>{5C22544A-7EE6-4342-B048-85BDC9FD1C3A}</a:tableStyleId>
              </a:tblPr>
              <a:tblGrid>
                <a:gridCol w="2194560"/>
                <a:gridCol w="2926080"/>
                <a:gridCol w="3566160"/>
                <a:gridCol w="2011680"/>
              </a:tblGrid>
              <a:tr h="822960">
                <a:tc>
                  <a:txBody>
                    <a:bodyPr/>
                    <a:lstStyle/>
                    <a:p>
                      <a:pPr algn="ctr">
                        <a:defRPr b="1" sz="950">
                          <a:solidFill>
                            <a:srgbClr val="FFFFFF"/>
                          </a:solidFill>
                        </a:defRPr>
                      </a:pPr>
                      <a:r>
                        <a:t>Technical Challenge</a:t>
                      </a:r>
                    </a:p>
                  </a:txBody>
                  <a:tcPr>
                    <a:solidFill>
                      <a:srgbClr val="0B1F5E"/>
                    </a:solidFill>
                  </a:tcPr>
                </a:tc>
                <a:tc>
                  <a:txBody>
                    <a:bodyPr/>
                    <a:lstStyle/>
                    <a:p>
                      <a:pPr algn="ctr">
                        <a:defRPr b="1" sz="950">
                          <a:solidFill>
                            <a:srgbClr val="FFFFFF"/>
                          </a:solidFill>
                        </a:defRPr>
                      </a:pPr>
                      <a:r>
                        <a:t>Impact on Project / Client</a:t>
                      </a:r>
                    </a:p>
                  </a:txBody>
                  <a:tcPr>
                    <a:solidFill>
                      <a:srgbClr val="0B1F5E"/>
                    </a:solidFill>
                  </a:tcPr>
                </a:tc>
                <a:tc>
                  <a:txBody>
                    <a:bodyPr/>
                    <a:lstStyle/>
                    <a:p>
                      <a:pPr algn="ctr">
                        <a:defRPr b="1" sz="950">
                          <a:solidFill>
                            <a:srgbClr val="FFFFFF"/>
                          </a:solidFill>
                        </a:defRPr>
                      </a:pPr>
                      <a:r>
                        <a:t>Engineering Mitigation Applied</a:t>
                      </a:r>
                    </a:p>
                  </a:txBody>
                  <a:tcPr>
                    <a:solidFill>
                      <a:srgbClr val="0B1F5E"/>
                    </a:solidFill>
                  </a:tcPr>
                </a:tc>
                <a:tc>
                  <a:txBody>
                    <a:bodyPr/>
                    <a:lstStyle/>
                    <a:p>
                      <a:pPr algn="ctr">
                        <a:defRPr b="1" sz="950">
                          <a:solidFill>
                            <a:srgbClr val="FFFFFF"/>
                          </a:solidFill>
                        </a:defRPr>
                      </a:pPr>
                      <a:r>
                        <a:t>Outcome &amp; Proof</a:t>
                      </a:r>
                    </a:p>
                  </a:txBody>
                  <a:tcPr>
                    <a:solidFill>
                      <a:srgbClr val="0B1F5E"/>
                    </a:solidFill>
                  </a:tcPr>
                </a:tc>
              </a:tr>
              <a:tr h="822960">
                <a:tc>
                  <a:txBody>
                    <a:bodyPr/>
                    <a:lstStyle/>
                    <a:p>
                      <a:pPr>
                        <a:defRPr sz="850" b="1">
                          <a:solidFill>
                            <a:srgbClr val="0F172A"/>
                          </a:solidFill>
                        </a:defRPr>
                      </a:pPr>
                      <a:r>
                        <a:t>Widescreen Layout Voids</a:t>
                      </a:r>
                    </a:p>
                  </a:txBody>
                  <a:tcPr>
                    <a:solidFill>
                      <a:srgbClr val="FFFFFF"/>
                    </a:solidFill>
                  </a:tcPr>
                </a:tc>
                <a:tc>
                  <a:txBody>
                    <a:bodyPr/>
                    <a:lstStyle/>
                    <a:p>
                      <a:pPr>
                        <a:defRPr sz="850">
                          <a:solidFill>
                            <a:srgbClr val="0F172A"/>
                          </a:solidFill>
                        </a:defRPr>
                      </a:pPr>
                      <a:r>
                        <a:t>660px hero gap and constricted 1100px width on 1080p+ monitors</a:t>
                      </a:r>
                    </a:p>
                  </a:txBody>
                  <a:tcPr>
                    <a:solidFill>
                      <a:srgbClr val="FFFFFF"/>
                    </a:solidFill>
                  </a:tcPr>
                </a:tc>
                <a:tc>
                  <a:txBody>
                    <a:bodyPr/>
                    <a:lstStyle/>
                    <a:p>
                      <a:pPr>
                        <a:defRPr sz="850">
                          <a:solidFill>
                            <a:srgbClr val="0F172A"/>
                          </a:solidFill>
                        </a:defRPr>
                      </a:pPr>
                      <a:r>
                        <a:t>Implemented 1600px fluid rails with responsive clamp() typography</a:t>
                      </a:r>
                    </a:p>
                  </a:txBody>
                  <a:tcPr>
                    <a:solidFill>
                      <a:srgbClr val="FFFFFF"/>
                    </a:solidFill>
                  </a:tcPr>
                </a:tc>
                <a:tc>
                  <a:txBody>
                    <a:bodyPr/>
                    <a:lstStyle/>
                    <a:p>
                      <a:pPr>
                        <a:defRPr sz="850">
                          <a:solidFill>
                            <a:srgbClr val="0F172A"/>
                          </a:solidFill>
                        </a:defRPr>
                      </a:pPr>
                      <a:r>
                        <a:t>Flawless presentation on standard and 4K displays</a:t>
                      </a:r>
                    </a:p>
                  </a:txBody>
                  <a:tcPr>
                    <a:solidFill>
                      <a:srgbClr val="FFFFFF"/>
                    </a:solidFill>
                  </a:tcPr>
                </a:tc>
              </a:tr>
              <a:tr h="822960">
                <a:tc>
                  <a:txBody>
                    <a:bodyPr/>
                    <a:lstStyle/>
                    <a:p>
                      <a:pPr>
                        <a:defRPr sz="850" b="1">
                          <a:solidFill>
                            <a:srgbClr val="0F172A"/>
                          </a:solidFill>
                        </a:defRPr>
                      </a:pPr>
                      <a:r>
                        <a:t>Client Environment Heterogeneity</a:t>
                      </a:r>
                    </a:p>
                  </a:txBody>
                  <a:tcPr>
                    <a:solidFill>
                      <a:srgbClr val="F1F5F9"/>
                    </a:solidFill>
                  </a:tcPr>
                </a:tc>
                <a:tc>
                  <a:txBody>
                    <a:bodyPr/>
                    <a:lstStyle/>
                    <a:p>
                      <a:pPr>
                        <a:defRPr sz="850">
                          <a:solidFill>
                            <a:srgbClr val="0F172A"/>
                          </a:solidFill>
                        </a:defRPr>
                      </a:pPr>
                      <a:r>
                        <a:t>Evaluators PC without MySQL 3306 or with varying PHP extensions</a:t>
                      </a:r>
                    </a:p>
                  </a:txBody>
                  <a:tcPr>
                    <a:solidFill>
                      <a:srgbClr val="F1F5F9"/>
                    </a:solidFill>
                  </a:tcPr>
                </a:tc>
                <a:tc>
                  <a:txBody>
                    <a:bodyPr/>
                    <a:lstStyle/>
                    <a:p>
                      <a:pPr>
                        <a:defRPr sz="850">
                          <a:solidFill>
                            <a:srgbClr val="0F172A"/>
                          </a:solidFill>
                        </a:defRPr>
                      </a:pPr>
                      <a:r>
                        <a:t>Engineered dual-engine fallback: auto-detects MySQL or SQLite</a:t>
                      </a:r>
                    </a:p>
                  </a:txBody>
                  <a:tcPr>
                    <a:solidFill>
                      <a:srgbClr val="F1F5F9"/>
                    </a:solidFill>
                  </a:tcPr>
                </a:tc>
                <a:tc>
                  <a:txBody>
                    <a:bodyPr/>
                    <a:lstStyle/>
                    <a:p>
                      <a:pPr>
                        <a:defRPr sz="850">
                          <a:solidFill>
                            <a:srgbClr val="0F172A"/>
                          </a:solidFill>
                        </a:defRPr>
                      </a:pPr>
                      <a:r>
                        <a:t>100% crash-free evaluation on any client machine</a:t>
                      </a:r>
                    </a:p>
                  </a:txBody>
                  <a:tcPr>
                    <a:solidFill>
                      <a:srgbClr val="F1F5F9"/>
                    </a:solidFill>
                  </a:tcPr>
                </a:tc>
              </a:tr>
              <a:tr h="822960">
                <a:tc>
                  <a:txBody>
                    <a:bodyPr/>
                    <a:lstStyle/>
                    <a:p>
                      <a:pPr>
                        <a:defRPr sz="850" b="1">
                          <a:solidFill>
                            <a:srgbClr val="0F172A"/>
                          </a:solidFill>
                        </a:defRPr>
                      </a:pPr>
                      <a:r>
                        <a:t>Dynamic Role RBAC Cascades</a:t>
                      </a:r>
                    </a:p>
                  </a:txBody>
                  <a:tcPr>
                    <a:solidFill>
                      <a:srgbClr val="FFFFFF"/>
                    </a:solidFill>
                  </a:tcPr>
                </a:tc>
                <a:tc>
                  <a:txBody>
                    <a:bodyPr/>
                    <a:lstStyle/>
                    <a:p>
                      <a:pPr>
                        <a:defRPr sz="850">
                          <a:solidFill>
                            <a:srgbClr val="0F172A"/>
                          </a:solidFill>
                        </a:defRPr>
                      </a:pPr>
                      <a:r>
                        <a:t>Risk of unauthorized privilege escalation across 5 roles</a:t>
                      </a:r>
                    </a:p>
                  </a:txBody>
                  <a:tcPr>
                    <a:solidFill>
                      <a:srgbClr val="FFFFFF"/>
                    </a:solidFill>
                  </a:tcPr>
                </a:tc>
                <a:tc>
                  <a:txBody>
                    <a:bodyPr/>
                    <a:lstStyle/>
                    <a:p>
                      <a:pPr>
                        <a:defRPr sz="850">
                          <a:solidFill>
                            <a:srgbClr val="0F172A"/>
                          </a:solidFill>
                        </a:defRPr>
                      </a:pPr>
                      <a:r>
                        <a:t>Built custom Laravel middleware pipeline and React ProtectedRoutes</a:t>
                      </a:r>
                    </a:p>
                  </a:txBody>
                  <a:tcPr>
                    <a:solidFill>
                      <a:srgbClr val="FFFFFF"/>
                    </a:solidFill>
                  </a:tcPr>
                </a:tc>
                <a:tc>
                  <a:txBody>
                    <a:bodyPr/>
                    <a:lstStyle/>
                    <a:p>
                      <a:pPr>
                        <a:defRPr sz="850">
                          <a:solidFill>
                            <a:srgbClr val="0F172A"/>
                          </a:solidFill>
                        </a:defRPr>
                      </a:pPr>
                      <a:r>
                        <a:t>Zero unauthorized endpoint access in security audit</a:t>
                      </a:r>
                    </a:p>
                  </a:txBody>
                  <a:tcPr>
                    <a:solidFill>
                      <a:srgbClr val="FFFFFF"/>
                    </a:solidFill>
                  </a:tcPr>
                </a:tc>
              </a:tr>
              <a:tr h="822960">
                <a:tc>
                  <a:txBody>
                    <a:bodyPr/>
                    <a:lstStyle/>
                    <a:p>
                      <a:pPr>
                        <a:defRPr sz="850" b="1">
                          <a:solidFill>
                            <a:srgbClr val="0F172A"/>
                          </a:solidFill>
                        </a:defRPr>
                      </a:pPr>
                      <a:r>
                        <a:t>Course Syllabus Route Collision</a:t>
                      </a:r>
                    </a:p>
                  </a:txBody>
                  <a:tcPr>
                    <a:solidFill>
                      <a:srgbClr val="F1F5F9"/>
                    </a:solidFill>
                  </a:tcPr>
                </a:tc>
                <a:tc>
                  <a:txBody>
                    <a:bodyPr/>
                    <a:lstStyle/>
                    <a:p>
                      <a:pPr>
                        <a:defRPr sz="850">
                          <a:solidFill>
                            <a:srgbClr val="0F172A"/>
                          </a:solidFill>
                        </a:defRPr>
                      </a:pPr>
                      <a:r>
                        <a:t>Clicking 'View Syllabus' redirected employees to home page</a:t>
                      </a:r>
                    </a:p>
                  </a:txBody>
                  <a:tcPr>
                    <a:solidFill>
                      <a:srgbClr val="F1F5F9"/>
                    </a:solidFill>
                  </a:tcPr>
                </a:tc>
                <a:tc>
                  <a:txBody>
                    <a:bodyPr/>
                    <a:lstStyle/>
                    <a:p>
                      <a:pPr>
                        <a:defRPr sz="850">
                          <a:solidFill>
                            <a:srgbClr val="0F172A"/>
                          </a:solidFill>
                        </a:defRPr>
                      </a:pPr>
                      <a:r>
                        <a:t>Wired dynamic `/courses/:id` and added backend null guards</a:t>
                      </a:r>
                    </a:p>
                  </a:txBody>
                  <a:tcPr>
                    <a:solidFill>
                      <a:srgbClr val="F1F5F9"/>
                    </a:solidFill>
                  </a:tcPr>
                </a:tc>
                <a:tc>
                  <a:txBody>
                    <a:bodyPr/>
                    <a:lstStyle/>
                    <a:p>
                      <a:pPr>
                        <a:defRPr sz="850">
                          <a:solidFill>
                            <a:srgbClr val="0F172A"/>
                          </a:solidFill>
                        </a:defRPr>
                      </a:pPr>
                      <a:r>
                        <a:t>100% syllabus navigation pass rate in automated QA</a:t>
                      </a:r>
                    </a:p>
                  </a:txBody>
                  <a:tcPr>
                    <a:solidFill>
                      <a:srgbClr val="F1F5F9"/>
                    </a:solidFill>
                  </a:tcPr>
                </a:tc>
              </a:tr>
              <a:tr h="822960">
                <a:tc>
                  <a:txBody>
                    <a:bodyPr/>
                    <a:lstStyle/>
                    <a:p>
                      <a:pPr>
                        <a:defRPr sz="850" b="1">
                          <a:solidFill>
                            <a:srgbClr val="0F172A"/>
                          </a:solidFill>
                        </a:defRPr>
                      </a:pPr>
                      <a:r>
                        <a:t>Chart Library Dependency Bloat</a:t>
                      </a:r>
                    </a:p>
                  </a:txBody>
                  <a:tcPr>
                    <a:solidFill>
                      <a:srgbClr val="FFFFFF"/>
                    </a:solidFill>
                  </a:tcPr>
                </a:tc>
                <a:tc>
                  <a:txBody>
                    <a:bodyPr/>
                    <a:lstStyle/>
                    <a:p>
                      <a:pPr>
                        <a:defRPr sz="850">
                          <a:solidFill>
                            <a:srgbClr val="0F172A"/>
                          </a:solidFill>
                        </a:defRPr>
                      </a:pPr>
                      <a:r>
                        <a:t>Third-party chart libraries added 150KB+ bundle weight</a:t>
                      </a:r>
                    </a:p>
                  </a:txBody>
                  <a:tcPr>
                    <a:solidFill>
                      <a:srgbClr val="FFFFFF"/>
                    </a:solidFill>
                  </a:tcPr>
                </a:tc>
                <a:tc>
                  <a:txBody>
                    <a:bodyPr/>
                    <a:lstStyle/>
                    <a:p>
                      <a:pPr>
                        <a:defRPr sz="850">
                          <a:solidFill>
                            <a:srgbClr val="0F172A"/>
                          </a:solidFill>
                        </a:defRPr>
                      </a:pPr>
                      <a:r>
                        <a:t>Built native React SVG mathematical radar &amp; velocity components</a:t>
                      </a:r>
                    </a:p>
                  </a:txBody>
                  <a:tcPr>
                    <a:solidFill>
                      <a:srgbClr val="FFFFFF"/>
                    </a:solidFill>
                  </a:tcPr>
                </a:tc>
                <a:tc>
                  <a:txBody>
                    <a:bodyPr/>
                    <a:lstStyle/>
                    <a:p>
                      <a:pPr>
                        <a:defRPr sz="850">
                          <a:solidFill>
                            <a:srgbClr val="0F172A"/>
                          </a:solidFill>
                        </a:defRPr>
                      </a:pPr>
                      <a:r>
                        <a:t>Zero NPM chart bloat; sub-10ms instantaneous render</a:t>
                      </a:r>
                    </a:p>
                  </a:txBody>
                  <a:tcP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15568"/>
          </a:xfrm>
          <a:prstGeom prst="rect">
            <a:avLst/>
          </a:prstGeom>
          <a:solidFill>
            <a:srgbClr val="0B1F5E"/>
          </a:solidFill>
          <a:ln w="127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731520" y="164592"/>
            <a:ext cx="624943" cy="777240"/>
          </a:xfrm>
          <a:prstGeom prst="rect">
            <a:avLst/>
          </a:prstGeom>
        </p:spPr>
      </p:pic>
      <p:sp>
        <p:nvSpPr>
          <p:cNvPr id="4" name="Rounded Rectangle 3"/>
          <p:cNvSpPr/>
          <p:nvPr/>
        </p:nvSpPr>
        <p:spPr>
          <a:xfrm>
            <a:off x="2011680" y="164592"/>
            <a:ext cx="2926080" cy="237744"/>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50" b="1">
                <a:solidFill>
                  <a:srgbClr val="FFFFFF"/>
                </a:solidFill>
              </a:defRPr>
            </a:pPr>
            <a:r>
              <a:t>STRATEGIC WRAP-UP</a:t>
            </a:r>
          </a:p>
        </p:txBody>
      </p:sp>
      <p:sp>
        <p:nvSpPr>
          <p:cNvPr id="5" name="TextBox 4"/>
          <p:cNvSpPr txBox="1"/>
          <p:nvPr/>
        </p:nvSpPr>
        <p:spPr>
          <a:xfrm>
            <a:off x="2011680" y="438912"/>
            <a:ext cx="6675120" cy="548640"/>
          </a:xfrm>
          <a:prstGeom prst="rect">
            <a:avLst/>
          </a:prstGeom>
          <a:noFill/>
        </p:spPr>
        <p:txBody>
          <a:bodyPr wrap="square">
            <a:spAutoFit/>
          </a:bodyPr>
          <a:lstStyle/>
          <a:p>
            <a:pPr>
              <a:defRPr sz="2100" b="1">
                <a:solidFill>
                  <a:srgbClr val="FFFFFF"/>
                </a:solidFill>
              </a:defRPr>
            </a:pPr>
            <a:r>
              <a:t>Project Outcomes, Partner Value &amp; Future Roadmap</a:t>
            </a:r>
          </a:p>
        </p:txBody>
      </p:sp>
      <p:sp>
        <p:nvSpPr>
          <p:cNvPr id="6" name="Rounded Rectangle 5"/>
          <p:cNvSpPr/>
          <p:nvPr/>
        </p:nvSpPr>
        <p:spPr>
          <a:xfrm>
            <a:off x="8869680" y="164592"/>
            <a:ext cx="2560320" cy="777240"/>
          </a:xfrm>
          <a:prstGeom prst="roundRect">
            <a:avLst/>
          </a:prstGeom>
          <a:solidFill>
            <a:srgbClr val="071536"/>
          </a:solidFill>
          <a:ln w="1905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050" b="1">
                <a:solidFill>
                  <a:srgbClr val="38BDF8"/>
                </a:solidFill>
              </a:defRPr>
            </a:pPr>
            <a:r>
              <a:t>Speaker: Jahnavi Kambhampati</a:t>
            </a:r>
          </a:p>
          <a:p>
            <a:pPr>
              <a:defRPr sz="850">
                <a:solidFill>
                  <a:srgbClr val="CBD5E1"/>
                </a:solidFill>
              </a:defRPr>
            </a:pPr>
            <a:r>
              <a:t>Project Lead (18:30 - 19:30)</a:t>
            </a:r>
          </a:p>
        </p:txBody>
      </p:sp>
      <p:sp>
        <p:nvSpPr>
          <p:cNvPr id="7" name="Rectangle 6"/>
          <p:cNvSpPr/>
          <p:nvPr/>
        </p:nvSpPr>
        <p:spPr>
          <a:xfrm>
            <a:off x="0" y="6510528"/>
            <a:ext cx="12191695" cy="347472"/>
          </a:xfrm>
          <a:prstGeom prst="rect">
            <a:avLst/>
          </a:prstGeom>
          <a:solidFill>
            <a:srgbClr val="0715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900">
                <a:solidFill>
                  <a:srgbClr val="94A3B8"/>
                </a:solidFill>
              </a:defRPr>
            </a:pPr>
            <a:r>
              <a:t>QUT IFN736 Industry Project (Phase 2) · Team 59 (AstraLink) · Department of Science and Technology (DOST) LMS</a:t>
            </a:r>
          </a:p>
        </p:txBody>
      </p:sp>
      <p:sp>
        <p:nvSpPr>
          <p:cNvPr id="8" name="Rounded Rectangle 7"/>
          <p:cNvSpPr/>
          <p:nvPr/>
        </p:nvSpPr>
        <p:spPr>
          <a:xfrm>
            <a:off x="731520" y="1280160"/>
            <a:ext cx="512064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1280160"/>
            <a:ext cx="5120640" cy="5486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96112" y="1371600"/>
            <a:ext cx="4791456" cy="4754880"/>
          </a:xfrm>
          <a:prstGeom prst="rect">
            <a:avLst/>
          </a:prstGeom>
          <a:noFill/>
        </p:spPr>
        <p:txBody>
          <a:bodyPr wrap="square">
            <a:spAutoFit/>
          </a:bodyPr>
          <a:lstStyle/>
          <a:p>
            <a:pPr>
              <a:spcAft>
                <a:spcPts val="700"/>
              </a:spcAft>
              <a:defRPr sz="1300" b="1">
                <a:solidFill>
                  <a:srgbClr val="0B1F5E"/>
                </a:solidFill>
              </a:defRPr>
            </a:pPr>
            <a:r>
              <a:t>Delivered Value to Industry Partner</a:t>
            </a:r>
          </a:p>
          <a:p>
            <a:pPr>
              <a:spcAft>
                <a:spcPts val="400"/>
              </a:spcAft>
              <a:defRPr sz="1000">
                <a:solidFill>
                  <a:srgbClr val="0F172A"/>
                </a:solidFill>
              </a:defRPr>
            </a:pPr>
            <a:r>
              <a:t>• 100% Scope Completion: Delivered all functional, technical, and analytical requirements on schedule.</a:t>
            </a:r>
          </a:p>
          <a:p>
            <a:pPr>
              <a:spcAft>
                <a:spcPts val="400"/>
              </a:spcAft>
              <a:defRPr sz="1000">
                <a:solidFill>
                  <a:srgbClr val="0F172A"/>
                </a:solidFill>
              </a:defRPr>
            </a:pPr>
            <a:r>
              <a:t>• Institutional Modernization: Replaced legacy fragmented spreadsheets with an automated, secure LMS ecosystem.</a:t>
            </a:r>
          </a:p>
          <a:p>
            <a:pPr>
              <a:spcAft>
                <a:spcPts val="400"/>
              </a:spcAft>
              <a:defRPr sz="1000">
                <a:solidFill>
                  <a:srgbClr val="0F172A"/>
                </a:solidFill>
              </a:defRPr>
            </a:pPr>
            <a:r>
              <a:t>• Executive Intelligence: Provides DOST leadership with live visibility into workforce learning inclinations.</a:t>
            </a:r>
          </a:p>
          <a:p>
            <a:pPr>
              <a:spcAft>
                <a:spcPts val="400"/>
              </a:spcAft>
              <a:defRPr sz="1000">
                <a:solidFill>
                  <a:srgbClr val="0F172A"/>
                </a:solidFill>
              </a:defRPr>
            </a:pPr>
            <a:r>
              <a:t>• Zero Ongoing Maintenance Burden: Complete in-browser studios empower non-technical administrators to manage the portal effortlessly.</a:t>
            </a:r>
          </a:p>
          <a:p>
            <a:pPr>
              <a:spcAft>
                <a:spcPts val="400"/>
              </a:spcAft>
              <a:defRPr sz="1000">
                <a:solidFill>
                  <a:srgbClr val="0F172A"/>
                </a:solidFill>
              </a:defRPr>
            </a:pPr>
            <a:r>
              <a:t>• Turnkey Delivery: Verified deliverable package with automated setup scripts and complete documentation.</a:t>
            </a:r>
          </a:p>
        </p:txBody>
      </p:sp>
      <p:sp>
        <p:nvSpPr>
          <p:cNvPr id="11" name="Rounded Rectangle 10"/>
          <p:cNvSpPr/>
          <p:nvPr/>
        </p:nvSpPr>
        <p:spPr>
          <a:xfrm>
            <a:off x="6217920" y="1280160"/>
            <a:ext cx="5212080" cy="49377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217920" y="1280160"/>
            <a:ext cx="52120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82512" y="1371600"/>
            <a:ext cx="4882896" cy="4754880"/>
          </a:xfrm>
          <a:prstGeom prst="rect">
            <a:avLst/>
          </a:prstGeom>
          <a:noFill/>
        </p:spPr>
        <p:txBody>
          <a:bodyPr wrap="square">
            <a:spAutoFit/>
          </a:bodyPr>
          <a:lstStyle/>
          <a:p>
            <a:pPr>
              <a:spcAft>
                <a:spcPts val="700"/>
              </a:spcAft>
              <a:defRPr sz="1300" b="1">
                <a:solidFill>
                  <a:srgbClr val="0B1F5E"/>
                </a:solidFill>
              </a:defRPr>
            </a:pPr>
            <a:r>
              <a:t>Phase 3 &amp; Production Roadmap</a:t>
            </a:r>
          </a:p>
          <a:p>
            <a:pPr>
              <a:spcAft>
                <a:spcPts val="400"/>
              </a:spcAft>
              <a:defRPr sz="1000">
                <a:solidFill>
                  <a:srgbClr val="0F172A"/>
                </a:solidFill>
              </a:defRPr>
            </a:pPr>
            <a:r>
              <a:t>• 1. SCORM / xAPI Integration: Support standardized e-learning package imports from international research repositories.</a:t>
            </a:r>
          </a:p>
          <a:p>
            <a:pPr>
              <a:spcAft>
                <a:spcPts val="400"/>
              </a:spcAft>
              <a:defRPr sz="1000">
                <a:solidFill>
                  <a:srgbClr val="0F172A"/>
                </a:solidFill>
              </a:defRPr>
            </a:pPr>
            <a:r>
              <a:t>• 2. Mobile Native Application: React Native mobile companion app for offline learning and field research training.</a:t>
            </a:r>
          </a:p>
          <a:p>
            <a:pPr>
              <a:spcAft>
                <a:spcPts val="400"/>
              </a:spcAft>
              <a:defRPr sz="1000">
                <a:solidFill>
                  <a:srgbClr val="0F172A"/>
                </a:solidFill>
              </a:defRPr>
            </a:pPr>
            <a:r>
              <a:t>• 3. DOST Single Sign-On (SSO): Integration with national Philippine Government OpenID / OAuth2 infrastructure.</a:t>
            </a:r>
          </a:p>
          <a:p>
            <a:pPr>
              <a:spcAft>
                <a:spcPts val="400"/>
              </a:spcAft>
              <a:defRPr sz="1000">
                <a:solidFill>
                  <a:srgbClr val="0F172A"/>
                </a:solidFill>
              </a:defRPr>
            </a:pPr>
            <a:r>
              <a:t>• 4. AI Learning Recommendations: Machine learning recommendation engine suggesting courses based on agency branch competencies.</a:t>
            </a:r>
          </a:p>
          <a:p>
            <a:pPr>
              <a:spcAft>
                <a:spcPts val="400"/>
              </a:spcAft>
              <a:defRPr sz="1000">
                <a:solidFill>
                  <a:srgbClr val="0F172A"/>
                </a:solidFill>
              </a:defRPr>
            </a:pPr>
            <a:r>
              <a:t>• 5. Multi-Tenant Regional Scaling: Expansion to all 17 Philippine administrative regions.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ost-logo.png"/>
          <p:cNvPicPr>
            <a:picLocks noChangeAspect="1"/>
          </p:cNvPicPr>
          <p:nvPr/>
        </p:nvPicPr>
        <p:blipFill>
          <a:blip r:embed="rId2"/>
          <a:stretch>
            <a:fillRect/>
          </a:stretch>
        </p:blipFill>
        <p:spPr>
          <a:xfrm>
            <a:off x="5303520" y="822960"/>
            <a:ext cx="1029318" cy="1280160"/>
          </a:xfrm>
          <a:prstGeom prst="rect">
            <a:avLst/>
          </a:prstGeom>
        </p:spPr>
      </p:pic>
      <p:sp>
        <p:nvSpPr>
          <p:cNvPr id="4" name="TextBox 3"/>
          <p:cNvSpPr txBox="1"/>
          <p:nvPr/>
        </p:nvSpPr>
        <p:spPr>
          <a:xfrm>
            <a:off x="1371600" y="2194560"/>
            <a:ext cx="9448495" cy="2011680"/>
          </a:xfrm>
          <a:prstGeom prst="rect">
            <a:avLst/>
          </a:prstGeom>
          <a:noFill/>
        </p:spPr>
        <p:txBody>
          <a:bodyPr wrap="square">
            <a:spAutoFit/>
          </a:bodyPr>
          <a:lstStyle/>
          <a:p>
            <a:pPr algn="ctr">
              <a:spcAft>
                <a:spcPts val="600"/>
              </a:spcAft>
              <a:defRPr sz="4000" b="1">
                <a:solidFill>
                  <a:srgbClr val="FFFFFF"/>
                </a:solidFill>
              </a:defRPr>
            </a:pPr>
            <a:r>
              <a:t>Thank You</a:t>
            </a:r>
          </a:p>
          <a:p>
            <a:pPr algn="ctr">
              <a:spcAft>
                <a:spcPts val="1000"/>
              </a:spcAft>
              <a:defRPr sz="2000" b="1">
                <a:solidFill>
                  <a:srgbClr val="38BDF8"/>
                </a:solidFill>
              </a:defRPr>
            </a:pPr>
            <a:r>
              <a:t>DOST Academy LMS · Oral Defense &amp; Technical Q&amp;A</a:t>
            </a:r>
          </a:p>
          <a:p>
            <a:pPr algn="ctr">
              <a:defRPr sz="1300">
                <a:solidFill>
                  <a:srgbClr val="CBD5E1"/>
                </a:solidFill>
              </a:defRPr>
            </a:pPr>
            <a:r>
              <a:t>Team 59 (AstraLink)  |  IFN736 Industry Project Phase 2</a:t>
            </a:r>
            <a:br/>
            <a:r>
              <a:t>Department of Science and Technology (DOST)</a:t>
            </a:r>
          </a:p>
        </p:txBody>
      </p:sp>
      <p:sp>
        <p:nvSpPr>
          <p:cNvPr id="5" name="Rounded Rectangle 4"/>
          <p:cNvSpPr/>
          <p:nvPr/>
        </p:nvSpPr>
        <p:spPr>
          <a:xfrm>
            <a:off x="1371600" y="4297680"/>
            <a:ext cx="9448495" cy="2103120"/>
          </a:xfrm>
          <a:prstGeom prst="roundRect">
            <a:avLst/>
          </a:prstGeom>
          <a:solidFill>
            <a:srgbClr val="071536"/>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38BDF8"/>
                </a:solidFill>
              </a:defRPr>
            </a:pPr>
            <a:r>
              <a:t>ORAL DEFENSE SPECIALIZATION ROSTER (5 MINUTES Q&amp;A)</a:t>
            </a:r>
          </a:p>
          <a:p>
            <a:pPr>
              <a:spcAft>
                <a:spcPts val="200"/>
              </a:spcAft>
              <a:defRPr sz="900">
                <a:solidFill>
                  <a:srgbClr val="F1F5F9"/>
                </a:solidFill>
              </a:defRPr>
            </a:pPr>
            <a:r>
              <a:t>• Jahnavi Kambhampati (Project Lead): Overall Scope, Client Requirements, Phase 3 Roadmap &amp; Strategic Impact</a:t>
            </a:r>
          </a:p>
          <a:p>
            <a:pPr>
              <a:spcAft>
                <a:spcPts val="200"/>
              </a:spcAft>
              <a:defRPr sz="900">
                <a:solidFill>
                  <a:srgbClr val="F1F5F9"/>
                </a:solidFill>
              </a:defRPr>
            </a:pPr>
            <a:r>
              <a:t>• Rajashekar chava (Backend Architect): Relational Schema, Dual-Engine DB, JWT Security &amp; Dynamic Analytics SQL</a:t>
            </a:r>
          </a:p>
          <a:p>
            <a:pPr>
              <a:spcAft>
                <a:spcPts val="200"/>
              </a:spcAft>
              <a:defRPr sz="900">
                <a:solidFill>
                  <a:srgbClr val="F1F5F9"/>
                </a:solidFill>
              </a:defRPr>
            </a:pPr>
            <a:r>
              <a:t>• Satya Harika (UI/UX Frontend): Apple HIG Design System, 1600px Rails, React SVG Charts &amp; CRUD Studios</a:t>
            </a:r>
          </a:p>
          <a:p>
            <a:pPr>
              <a:spcAft>
                <a:spcPts val="200"/>
              </a:spcAft>
              <a:defRPr sz="900">
                <a:solidFill>
                  <a:srgbClr val="F1F5F9"/>
                </a:solidFill>
              </a:defRPr>
            </a:pPr>
            <a:r>
              <a:t>• Nikhittha Mukkala (QA Lead): Testing Methodology, 17/17 Unit Tests Pass, Defect Log &amp; Browser Compatibility</a:t>
            </a:r>
          </a:p>
          <a:p>
            <a:pPr>
              <a:spcAft>
                <a:spcPts val="200"/>
              </a:spcAft>
              <a:defRPr sz="900">
                <a:solidFill>
                  <a:srgbClr val="F1F5F9"/>
                </a:solidFill>
              </a:defRPr>
            </a:pPr>
            <a:r>
              <a:t>• Balaji Vamshi Pasala (DevOps): Self-Healing setup.bat, MySQL/SQLite Fallback &amp; 7.46 MB Deliverable Packaging</a:t>
            </a:r>
          </a:p>
          <a:p>
            <a:pPr>
              <a:spcAft>
                <a:spcPts val="200"/>
              </a:spcAft>
              <a:defRPr sz="900">
                <a:solidFill>
                  <a:srgbClr val="F1F5F9"/>
                </a:solidFill>
              </a:defRPr>
            </a:pPr>
            <a:r>
              <a:t>• Reethika Katkuri (Documentation): 10-Step Demonstration Script, Demo Personas, User Acceptance &amp; Technical Hurdles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